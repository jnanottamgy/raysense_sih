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PRANAVI — 55s. PS ID + DRDO. Then 93% / 11%. PAUSE 3s after "eleven percent".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JEEVIKA — 96s. Walk A / B / C. Land on "B and C are identical". Then the three states, then novelty.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NIKITA — 84s. 0.7 m spacing at 10 m, 9 m at 30 m. That is why a 6 m ditch at 30 m is invisible. Then the six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NIKITA — 48s. No new hardware, ground truth known. Volunteer all three risks — especially that RELLIS has NOT been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ANUJ — 66s. Warmest delivery. Three audiences, then land on 23 km/h and PAUSE.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PRANAVI — 41s. We cite these BECAUSE the field exists. Close on the three numbers and stop.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" y="329184"/>
            <a:ext cx="1335024" cy="621792"/>
          </a:xfrm>
          <a:prstGeom prst="ellipse">
            <a:avLst/>
          </a:prstGeom>
          <a:solidFill>
            <a:srgbClr val="FFFFFF"/>
          </a:solidFill>
          <a:ln w="16510">
            <a:solidFill>
              <a:srgbClr val="7A6FA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02336" y="329184"/>
            <a:ext cx="13350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350" dirty="0"/>
          </a:p>
        </p:txBody>
      </p:sp>
      <p:pic>
        <p:nvPicPr>
          <p:cNvPr id="4" name="Image 0" descr="deckbuild/si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274320"/>
            <a:ext cx="2377440" cy="1137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1719072"/>
            <a:ext cx="10543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260" kern="0" dirty="0">
                <a:solidFill>
                  <a:srgbClr val="6E7B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INDIA HACKATHON 2026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121408"/>
            <a:ext cx="10543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80" kern="0" dirty="0">
                <a:solidFill>
                  <a:srgbClr val="006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TITLE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95728"/>
            <a:ext cx="1054303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Adaptive Variable Resolution 2.5D Lidar Mapping</a:t>
            </a:r>
            <a:endParaRPr lang="en-US" sz="3100" dirty="0"/>
          </a:p>
          <a:p>
            <a:pPr algn="ctr" indent="0" marL="0">
              <a:buNone/>
            </a:pPr>
            <a:r>
              <a:rPr lang="en-US" sz="2300" dirty="0">
                <a:solidFill>
                  <a:srgbClr val="4350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Dynamic Environment Perception</a:t>
            </a:r>
            <a:endParaRPr lang="en-US" sz="3100" dirty="0"/>
          </a:p>
        </p:txBody>
      </p:sp>
      <p:sp>
        <p:nvSpPr>
          <p:cNvPr id="8" name="Shape 5"/>
          <p:cNvSpPr/>
          <p:nvPr/>
        </p:nvSpPr>
        <p:spPr>
          <a:xfrm>
            <a:off x="705917" y="4078224"/>
            <a:ext cx="3410712" cy="932688"/>
          </a:xfrm>
          <a:prstGeom prst="roundRect">
            <a:avLst>
              <a:gd name="adj" fmla="val 4902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07085" y="4443984"/>
            <a:ext cx="201168" cy="201168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217981" y="4233672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ID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217981" y="4471416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SIH26053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4390949" y="4078224"/>
            <a:ext cx="3410712" cy="932688"/>
          </a:xfrm>
          <a:prstGeom prst="roundRect">
            <a:avLst>
              <a:gd name="adj" fmla="val 4902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92117" y="4443984"/>
            <a:ext cx="201168" cy="201168"/>
          </a:xfrm>
          <a:prstGeom prst="ellipse">
            <a:avLst/>
          </a:prstGeom>
          <a:solidFill>
            <a:srgbClr val="D2622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903013" y="4233672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4903013" y="4471416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DRDO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8075981" y="4078224"/>
            <a:ext cx="3410712" cy="932688"/>
          </a:xfrm>
          <a:prstGeom prst="roundRect">
            <a:avLst>
              <a:gd name="adj" fmla="val 4902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77149" y="4443984"/>
            <a:ext cx="201168" cy="201168"/>
          </a:xfrm>
          <a:prstGeom prst="ellipse">
            <a:avLst/>
          </a:prstGeom>
          <a:solidFill>
            <a:srgbClr val="7A55B5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588045" y="4233672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8588045" y="4471416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Automation</a:t>
            </a:r>
            <a:endParaRPr lang="en-US" sz="1450" dirty="0"/>
          </a:p>
        </p:txBody>
      </p:sp>
      <p:sp>
        <p:nvSpPr>
          <p:cNvPr id="20" name="Shape 17"/>
          <p:cNvSpPr/>
          <p:nvPr/>
        </p:nvSpPr>
        <p:spPr>
          <a:xfrm>
            <a:off x="705917" y="5138928"/>
            <a:ext cx="3410712" cy="932688"/>
          </a:xfrm>
          <a:prstGeom prst="roundRect">
            <a:avLst>
              <a:gd name="adj" fmla="val 4902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07085" y="5504688"/>
            <a:ext cx="201168" cy="201168"/>
          </a:xfrm>
          <a:prstGeom prst="ellipse">
            <a:avLst/>
          </a:prstGeom>
          <a:solidFill>
            <a:srgbClr val="2E9E6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217981" y="5294376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 CATEGORY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217981" y="553212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1450" dirty="0"/>
          </a:p>
        </p:txBody>
      </p:sp>
      <p:sp>
        <p:nvSpPr>
          <p:cNvPr id="24" name="Shape 21"/>
          <p:cNvSpPr/>
          <p:nvPr/>
        </p:nvSpPr>
        <p:spPr>
          <a:xfrm>
            <a:off x="4390949" y="5138928"/>
            <a:ext cx="3410712" cy="932688"/>
          </a:xfrm>
          <a:prstGeom prst="roundRect">
            <a:avLst>
              <a:gd name="adj" fmla="val 4902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592117" y="5504688"/>
            <a:ext cx="201168" cy="201168"/>
          </a:xfrm>
          <a:prstGeom prst="ellipse">
            <a:avLst/>
          </a:prstGeom>
          <a:solidFill>
            <a:srgbClr val="D2622A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903013" y="5294376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ID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4903013" y="553212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FROM PORTAL</a:t>
            </a:r>
            <a:endParaRPr lang="en-US" sz="1450" dirty="0"/>
          </a:p>
        </p:txBody>
      </p:sp>
      <p:sp>
        <p:nvSpPr>
          <p:cNvPr id="28" name="Shape 25"/>
          <p:cNvSpPr/>
          <p:nvPr/>
        </p:nvSpPr>
        <p:spPr>
          <a:xfrm>
            <a:off x="8075981" y="5138928"/>
            <a:ext cx="3410712" cy="932688"/>
          </a:xfrm>
          <a:prstGeom prst="roundRect">
            <a:avLst>
              <a:gd name="adj" fmla="val 4902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277149" y="5504688"/>
            <a:ext cx="201168" cy="201168"/>
          </a:xfrm>
          <a:prstGeom prst="ellipse">
            <a:avLst/>
          </a:prstGeom>
          <a:solidFill>
            <a:srgbClr val="006FB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8588045" y="5294376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8588045" y="553212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28016"/>
            <a:ext cx="1152144" cy="53035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A6FA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37744" y="128016"/>
            <a:ext cx="11521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250" dirty="0"/>
          </a:p>
        </p:txBody>
      </p:sp>
      <p:pic>
        <p:nvPicPr>
          <p:cNvPr id="4" name="Image 0" descr="deckbuild/si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91440"/>
            <a:ext cx="1517904" cy="7264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18872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Adaptive Point-Budget Lidar Perception for UGVs</a:t>
            </a:r>
            <a:endParaRPr lang="en-US" sz="2900" dirty="0"/>
          </a:p>
        </p:txBody>
      </p:sp>
      <p:sp>
        <p:nvSpPr>
          <p:cNvPr id="6" name="Shap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6FB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323015" y="647395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pic>
        <p:nvPicPr>
          <p:cNvPr id="9" name="Image 1" descr="deckbuild/fig_donu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4160520" cy="23178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65760" y="3310128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SCAN ALREADY MISSES 9 IN 10 DITCHES</a:t>
            </a:r>
            <a:endParaRPr lang="en-US" sz="1150" dirty="0"/>
          </a:p>
        </p:txBody>
      </p:sp>
      <p:pic>
        <p:nvPicPr>
          <p:cNvPr id="11" name="Image 2" descr="deckbuild/abs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024128"/>
            <a:ext cx="6903720" cy="372168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892040" y="4956048"/>
            <a:ext cx="6903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DITCH AND A PATCH YOU NEVER LOOKED AT GIVE THE SAME SIGNAL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365760" y="3749040"/>
            <a:ext cx="4160520" cy="2395728"/>
          </a:xfrm>
          <a:prstGeom prst="roundRect">
            <a:avLst>
              <a:gd name="adj" fmla="val 1908"/>
            </a:avLst>
          </a:prstGeom>
          <a:solidFill>
            <a:srgbClr val="F0F5F1"/>
          </a:solidFill>
          <a:ln w="12700">
            <a:solidFill>
              <a:srgbClr val="2E9E68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566928" y="39136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2E9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</a:t>
            </a:r>
            <a:endParaRPr lang="en-US" sz="1150" dirty="0"/>
          </a:p>
        </p:txBody>
      </p:sp>
      <p:sp>
        <p:nvSpPr>
          <p:cNvPr id="15" name="Text 10"/>
          <p:cNvSpPr txBox="1"/>
          <p:nvPr/>
        </p:nvSpPr>
        <p:spPr>
          <a:xfrm>
            <a:off x="566928" y="418795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three-state map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603504" y="4727448"/>
            <a:ext cx="164592" cy="164592"/>
          </a:xfrm>
          <a:prstGeom prst="ellipse">
            <a:avLst/>
          </a:prstGeom>
          <a:solidFill>
            <a:srgbClr val="2E9E68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77824" y="466344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9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03504" y="5111496"/>
            <a:ext cx="164592" cy="164592"/>
          </a:xfrm>
          <a:prstGeom prst="ellipse">
            <a:avLst/>
          </a:prstGeom>
          <a:solidFill>
            <a:srgbClr val="9A6F0E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77824" y="504748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6F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03504" y="5495544"/>
            <a:ext cx="164592" cy="164592"/>
          </a:xfrm>
          <a:prstGeom prst="ellipse">
            <a:avLst/>
          </a:prstGeom>
          <a:solidFill>
            <a:srgbClr val="D2622A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77824" y="543153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CANDIDATE_NEGATIVE</a:t>
            </a:r>
            <a:endParaRPr lang="en-US" sz="1250" dirty="0"/>
          </a:p>
        </p:txBody>
      </p:sp>
      <p:sp>
        <p:nvSpPr>
          <p:cNvPr id="22" name="Text 17"/>
          <p:cNvSpPr txBox="1"/>
          <p:nvPr/>
        </p:nvSpPr>
        <p:spPr>
          <a:xfrm>
            <a:off x="566928" y="5797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is never upgraded to “safe”.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28016"/>
            <a:ext cx="1152144" cy="53035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A6FA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37744" y="128016"/>
            <a:ext cx="11521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250" dirty="0"/>
          </a:p>
        </p:txBody>
      </p:sp>
      <p:pic>
        <p:nvPicPr>
          <p:cNvPr id="4" name="Image 0" descr="deckbuild/si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91440"/>
            <a:ext cx="1517904" cy="7264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18872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APPROACH</a:t>
            </a:r>
            <a:endParaRPr lang="en-US" sz="2900" dirty="0"/>
          </a:p>
        </p:txBody>
      </p:sp>
      <p:sp>
        <p:nvSpPr>
          <p:cNvPr id="6" name="Shap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6FB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323015" y="647395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pic>
        <p:nvPicPr>
          <p:cNvPr id="9" name="Image 1" descr="deckbuild/fig_pipe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33272"/>
            <a:ext cx="5440680" cy="3413225"/>
          </a:xfrm>
          <a:prstGeom prst="rect">
            <a:avLst/>
          </a:prstGeom>
        </p:spPr>
      </p:pic>
      <p:pic>
        <p:nvPicPr>
          <p:cNvPr id="10" name="Image 2" descr="deckbuild/fig_quadrati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868680"/>
            <a:ext cx="5669280" cy="369334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144768" y="459943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DITCHES DEGRADE QUADRATICALLY · BUMPS ONLY LINEARLY</a:t>
            </a:r>
            <a:endParaRPr lang="en-US" sz="1150" dirty="0"/>
          </a:p>
        </p:txBody>
      </p:sp>
      <p:sp>
        <p:nvSpPr>
          <p:cNvPr id="12" name="Shape 7"/>
          <p:cNvSpPr/>
          <p:nvPr/>
        </p:nvSpPr>
        <p:spPr>
          <a:xfrm>
            <a:off x="6144768" y="4956048"/>
            <a:ext cx="5669280" cy="786384"/>
          </a:xfrm>
          <a:prstGeom prst="roundRect">
            <a:avLst>
              <a:gd name="adj" fmla="val 5814"/>
            </a:avLst>
          </a:prstGeom>
          <a:solidFill>
            <a:srgbClr val="FDF1EA"/>
          </a:solidFill>
          <a:ln w="12700">
            <a:solidFill>
              <a:srgbClr val="D2622A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144768" y="5074920"/>
            <a:ext cx="5669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Δθ  ≤  w · h</a:t>
            </a:r>
            <a:pPr algn="ctr" indent="0" marL="0">
              <a:buNone/>
            </a:pPr>
            <a:r>
              <a:rPr lang="en-US" sz="2100" b="1" baseline="-40000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</a:t>
            </a:r>
            <a:pPr algn="ctr" indent="0" marL="0">
              <a:buNone/>
            </a:pPr>
            <a:r>
              <a:rPr lang="en-US" sz="210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/  r²</a:t>
            </a:r>
            <a:endParaRPr lang="en-US" sz="2100" dirty="0"/>
          </a:p>
        </p:txBody>
      </p:sp>
      <p:sp>
        <p:nvSpPr>
          <p:cNvPr id="14" name="Shape 9"/>
          <p:cNvSpPr/>
          <p:nvPr/>
        </p:nvSpPr>
        <p:spPr>
          <a:xfrm>
            <a:off x="6144768" y="5888736"/>
            <a:ext cx="2761488" cy="420624"/>
          </a:xfrm>
          <a:prstGeom prst="roundRect">
            <a:avLst>
              <a:gd name="adj" fmla="val 10870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272784" y="6016752"/>
            <a:ext cx="164592" cy="164592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6528816" y="588873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 · NumPy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9052560" y="5888736"/>
            <a:ext cx="2761488" cy="420624"/>
          </a:xfrm>
          <a:prstGeom prst="roundRect">
            <a:avLst>
              <a:gd name="adj" fmla="val 10870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80576" y="6016752"/>
            <a:ext cx="164592" cy="164592"/>
          </a:xfrm>
          <a:prstGeom prst="ellipse">
            <a:avLst/>
          </a:prstGeom>
          <a:solidFill>
            <a:srgbClr val="7A55B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9436608" y="588873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Fixed-grid 2.5D map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44768" y="5888736"/>
            <a:ext cx="2761488" cy="420624"/>
          </a:xfrm>
          <a:prstGeom prst="roundRect">
            <a:avLst>
              <a:gd name="adj" fmla="val 10870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272784" y="6016752"/>
            <a:ext cx="164592" cy="164592"/>
          </a:xfrm>
          <a:prstGeom prst="ellipse">
            <a:avLst/>
          </a:prstGeom>
          <a:solidFill>
            <a:srgbClr val="2E9E68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6528816" y="588873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+ live-sensor seam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9052560" y="5888736"/>
            <a:ext cx="2761488" cy="420624"/>
          </a:xfrm>
          <a:prstGeom prst="roundRect">
            <a:avLst>
              <a:gd name="adj" fmla="val 10870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9180576" y="6016752"/>
            <a:ext cx="164592" cy="164592"/>
          </a:xfrm>
          <a:prstGeom prst="ellipse">
            <a:avLst/>
          </a:prstGeom>
          <a:solidFill>
            <a:srgbClr val="D2622A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9436608" y="588873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ms / frame at 5%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28016"/>
            <a:ext cx="1152144" cy="53035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A6FA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37744" y="128016"/>
            <a:ext cx="11521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250" dirty="0"/>
          </a:p>
        </p:txBody>
      </p:sp>
      <p:pic>
        <p:nvPicPr>
          <p:cNvPr id="4" name="Image 0" descr="deckbuild/si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91440"/>
            <a:ext cx="1517904" cy="7264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18872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FEASIBILITY AND VIABILITY</a:t>
            </a:r>
            <a:endParaRPr lang="en-US" sz="2900" dirty="0"/>
          </a:p>
        </p:txBody>
      </p:sp>
      <p:sp>
        <p:nvSpPr>
          <p:cNvPr id="6" name="Shap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6FB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323015" y="647395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pic>
        <p:nvPicPr>
          <p:cNvPr id="9" name="Image 1" descr="deckbuild/fig_thresh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96112"/>
            <a:ext cx="5486400" cy="34290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65760" y="43708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PARAMETER CHOSEN BY SWEEP, NOT BY EYE</a:t>
            </a:r>
            <a:endParaRPr lang="en-US" sz="1150" dirty="0"/>
          </a:p>
        </p:txBody>
      </p:sp>
      <p:pic>
        <p:nvPicPr>
          <p:cNvPr id="11" name="Image 2" descr="deckbuild/demo_fra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896112"/>
            <a:ext cx="5687568" cy="242643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126480" y="3328416"/>
            <a:ext cx="5687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2E9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RUNS TODAY — 103 TESTS, REPRODUCIBLE BIT-FOR-BIT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126480" y="3712464"/>
            <a:ext cx="1792224" cy="658368"/>
          </a:xfrm>
          <a:prstGeom prst="roundRect">
            <a:avLst>
              <a:gd name="adj" fmla="val 6944"/>
            </a:avLst>
          </a:prstGeom>
          <a:solidFill>
            <a:srgbClr val="F0F5F1"/>
          </a:solidFill>
          <a:ln w="12700">
            <a:solidFill>
              <a:srgbClr val="2E9E68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217920" y="3712464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9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HARDWARE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8055864" y="3712464"/>
            <a:ext cx="1792224" cy="658368"/>
          </a:xfrm>
          <a:prstGeom prst="roundRect">
            <a:avLst>
              <a:gd name="adj" fmla="val 6944"/>
            </a:avLst>
          </a:prstGeom>
          <a:solidFill>
            <a:srgbClr val="F0F5F1"/>
          </a:solidFill>
          <a:ln w="12700">
            <a:solidFill>
              <a:srgbClr val="2C8FB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147304" y="3712464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C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KNOWN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9985248" y="3712464"/>
            <a:ext cx="1792224" cy="658368"/>
          </a:xfrm>
          <a:prstGeom prst="roundRect">
            <a:avLst>
              <a:gd name="adj" fmla="val 6944"/>
            </a:avLst>
          </a:prstGeom>
          <a:solidFill>
            <a:srgbClr val="F0F5F1"/>
          </a:solidFill>
          <a:ln w="12700">
            <a:solidFill>
              <a:srgbClr val="7A55B5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10076688" y="3712464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55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 TESTS PASS</a:t>
            </a:r>
            <a:endParaRPr lang="en-US" sz="1050" dirty="0"/>
          </a:p>
        </p:txBody>
      </p:sp>
      <p:sp>
        <p:nvSpPr>
          <p:cNvPr id="19" name="Text 14"/>
          <p:cNvSpPr txBox="1"/>
          <p:nvPr/>
        </p:nvSpPr>
        <p:spPr>
          <a:xfrm>
            <a:off x="365760" y="4791456"/>
            <a:ext cx="11430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RISKS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365760" y="5102352"/>
            <a:ext cx="3657600" cy="960120"/>
          </a:xfrm>
          <a:prstGeom prst="roundRect">
            <a:avLst>
              <a:gd name="adj" fmla="val 4762"/>
            </a:avLst>
          </a:prstGeom>
          <a:solidFill>
            <a:srgbClr val="FBF3EE"/>
          </a:solidFill>
          <a:ln w="12700">
            <a:solidFill>
              <a:srgbClr val="E4C4B2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30352" y="5212080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</a:t>
            </a:r>
            <a:endParaRPr lang="en-US" sz="2600" dirty="0"/>
          </a:p>
        </p:txBody>
      </p:sp>
      <p:sp>
        <p:nvSpPr>
          <p:cNvPr id="22" name="Text 17"/>
          <p:cNvSpPr txBox="1"/>
          <p:nvPr/>
        </p:nvSpPr>
        <p:spPr>
          <a:xfrm>
            <a:off x="1572768" y="5175504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precision, not 100% — crest occlusions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4224528" y="5102352"/>
            <a:ext cx="3657600" cy="960120"/>
          </a:xfrm>
          <a:prstGeom prst="roundRect">
            <a:avLst>
              <a:gd name="adj" fmla="val 4762"/>
            </a:avLst>
          </a:prstGeom>
          <a:solidFill>
            <a:srgbClr val="FBF3EE"/>
          </a:solidFill>
          <a:ln w="12700">
            <a:solidFill>
              <a:srgbClr val="E4C4B2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389120" y="5212080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600" dirty="0"/>
          </a:p>
        </p:txBody>
      </p:sp>
      <p:sp>
        <p:nvSpPr>
          <p:cNvPr id="25" name="Text 20"/>
          <p:cNvSpPr txBox="1"/>
          <p:nvPr/>
        </p:nvSpPr>
        <p:spPr>
          <a:xfrm>
            <a:off x="5431536" y="5175504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of RELLIS-3D run so far — next step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8083296" y="5102352"/>
            <a:ext cx="3657600" cy="960120"/>
          </a:xfrm>
          <a:prstGeom prst="roundRect">
            <a:avLst>
              <a:gd name="adj" fmla="val 4762"/>
            </a:avLst>
          </a:prstGeom>
          <a:solidFill>
            <a:srgbClr val="FBF3EE"/>
          </a:solidFill>
          <a:ln w="12700">
            <a:solidFill>
              <a:srgbClr val="E4C4B2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47888" y="5212080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2600" dirty="0"/>
          </a:p>
        </p:txBody>
      </p:sp>
      <p:sp>
        <p:nvSpPr>
          <p:cNvPr id="28" name="Text 23"/>
          <p:cNvSpPr txBox="1"/>
          <p:nvPr/>
        </p:nvSpPr>
        <p:spPr>
          <a:xfrm>
            <a:off x="9290304" y="5175504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Jetson benchmark — we will not quote one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28016"/>
            <a:ext cx="1152144" cy="53035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A6FA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37744" y="128016"/>
            <a:ext cx="11521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250" dirty="0"/>
          </a:p>
        </p:txBody>
      </p:sp>
      <p:pic>
        <p:nvPicPr>
          <p:cNvPr id="4" name="Image 0" descr="deckbuild/si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91440"/>
            <a:ext cx="1517904" cy="7264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18872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AND BENEFITS</a:t>
            </a:r>
            <a:endParaRPr lang="en-US" sz="2900" dirty="0"/>
          </a:p>
        </p:txBody>
      </p:sp>
      <p:sp>
        <p:nvSpPr>
          <p:cNvPr id="6" name="Shap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6FB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323015" y="647395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pic>
        <p:nvPicPr>
          <p:cNvPr id="9" name="Image 1" descr="deckbuild/fig_detec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5532120" cy="360398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65760" y="4590288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2E9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 OF DITCHES AT 5% OF THE POINTS · 20× FEWER</a:t>
            </a:r>
            <a:endParaRPr lang="en-US" sz="1150" dirty="0"/>
          </a:p>
        </p:txBody>
      </p:sp>
      <p:pic>
        <p:nvPicPr>
          <p:cNvPr id="11" name="Image 2" descr="deckbuild/fig_speed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896112"/>
            <a:ext cx="4663440" cy="326342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537960" y="41879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SPEED LIMIT NOBODY PUBLISHED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144768" y="4645152"/>
            <a:ext cx="5669280" cy="502920"/>
          </a:xfrm>
          <a:prstGeom prst="roundRect">
            <a:avLst>
              <a:gd name="adj" fmla="val 9091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309360" y="4800600"/>
            <a:ext cx="192024" cy="192024"/>
          </a:xfrm>
          <a:prstGeom prst="ellipse">
            <a:avLst/>
          </a:prstGeom>
          <a:solidFill>
            <a:srgbClr val="2E9E68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601968" y="4645152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Defence UGVs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8549640" y="464515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unmapped ground becomes navigable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6144768" y="5221224"/>
            <a:ext cx="5669280" cy="502920"/>
          </a:xfrm>
          <a:prstGeom prst="roundRect">
            <a:avLst>
              <a:gd name="adj" fmla="val 9091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309360" y="5376672"/>
            <a:ext cx="192024" cy="192024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6601968" y="5221224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operators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8549640" y="5221224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ditch does not damage a vehicle — it ends it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6144768" y="5797296"/>
            <a:ext cx="5669280" cy="502920"/>
          </a:xfrm>
          <a:prstGeom prst="roundRect">
            <a:avLst>
              <a:gd name="adj" fmla="val 9091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309360" y="5952744"/>
            <a:ext cx="192024" cy="192024"/>
          </a:xfrm>
          <a:prstGeom prst="ellipse">
            <a:avLst/>
          </a:prstGeom>
          <a:solidFill>
            <a:srgbClr val="7A55B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6601968" y="57972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designers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8549640" y="5797296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quantified speed ceiling, per sensor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28016"/>
            <a:ext cx="1152144" cy="53035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A6FA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37744" y="128016"/>
            <a:ext cx="11521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250" dirty="0"/>
          </a:p>
        </p:txBody>
      </p:sp>
      <p:pic>
        <p:nvPicPr>
          <p:cNvPr id="4" name="Image 0" descr="deckbuild/si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91440"/>
            <a:ext cx="1517904" cy="7264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18872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AND REFERENCES</a:t>
            </a:r>
            <a:endParaRPr lang="en-US" sz="2900" dirty="0"/>
          </a:p>
        </p:txBody>
      </p:sp>
      <p:sp>
        <p:nvSpPr>
          <p:cNvPr id="6" name="Shap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6FB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323015" y="647395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pic>
        <p:nvPicPr>
          <p:cNvPr id="9" name="Image 1" descr="deckbuild/fig_ven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77824"/>
            <a:ext cx="7178040" cy="417085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65760" y="5102352"/>
            <a:ext cx="7178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2E9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DID NOT INVENT ADAPTIVE LIDAR — WE FOUND WHERE IT BREAKS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365760" y="5486400"/>
            <a:ext cx="7178040" cy="731520"/>
          </a:xfrm>
          <a:prstGeom prst="roundRect">
            <a:avLst>
              <a:gd name="adj" fmla="val 6250"/>
            </a:avLst>
          </a:prstGeom>
          <a:solidFill>
            <a:srgbClr val="F0F5F1"/>
          </a:solidFill>
          <a:ln w="12700">
            <a:solidFill>
              <a:srgbClr val="2E9E6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" y="5486400"/>
            <a:ext cx="6812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Ours: a three-state map · the corrected quadratic floor · a range-normalised gap test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7882128" y="87782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2C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882128" y="1316736"/>
            <a:ext cx="137160" cy="137160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8138160" y="12435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RELLIS-3D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8138160" y="1499616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ICRA 2021 · off-road, Ouster OS1-64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7882128" y="2103120"/>
            <a:ext cx="137160" cy="137160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138160" y="2029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 Labs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8138160" y="228600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MEMS foveating lidar — Pittaluga et al.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7882128" y="2889504"/>
            <a:ext cx="137160" cy="137160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813816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LiDAR Scanning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8138160" y="3072384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cues, 2025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7882128" y="3675888"/>
            <a:ext cx="137160" cy="137160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8138160" y="36027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AEye iDAR / 4Sight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138160" y="3858768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11675053 · 11782136 · 11860313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7882128" y="4462272"/>
            <a:ext cx="137160" cy="137160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8138160" y="4389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Larson &amp; Trivedi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8138160" y="46451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DTIC ADA561293 — negative obstacles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7882128" y="5248656"/>
            <a:ext cx="137160" cy="137160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8138160" y="51755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ROBIO 2024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8138160" y="5431536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3D lidar, off-road ditches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2026-09-12T09:18:05Z</dcterms:created>
  <dcterms:modified xsi:type="dcterms:W3CDTF">2026-09-12T09:18:05Z</dcterms:modified>
</cp:coreProperties>
</file>