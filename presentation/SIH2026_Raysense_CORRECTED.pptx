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PRANAVI — 55s. PS ID + DRDO. Then 93% / 11%. PAUSE 3s after "eleven percent".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JEEVIKA — 96s. Walk A / B / C. Land on "B and C are identical". Then the three states, then novelty.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NIKITA — 84s. 0.7 m spacing at 10 m, 9 m at 30 m. That is why a 6 m ditch at 30 m is invisible. Then the six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NIKITA — 48s. No new hardware, ground truth known. Volunteer all three risks — especially that RELLIS has NOT been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ANUJ — 66s. Warmest delivery. Three audiences, then land on 23 km/h and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PRANAVI — 41s. We cite these BECAUSE the field exists. Close on the three numbers and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29184"/>
            <a:ext cx="1335024" cy="62179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7A6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" y="329184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Raysense</a:t>
            </a:r>
            <a:endParaRPr lang="en-US" sz="1350" dirty="0"/>
          </a:p>
        </p:txBody>
      </p:sp>
      <p:pic>
        <p:nvPicPr>
          <p:cNvPr id="4" name="Image 0" descr="deckbuild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74320"/>
            <a:ext cx="2377440" cy="1137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719072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60" kern="0" dirty="0">
                <a:solidFill>
                  <a:srgbClr val="6E7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21408"/>
            <a:ext cx="10543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0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95728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Variable Resolution 2.5D Lidar Mapping</a:t>
            </a:r>
            <a:endParaRPr lang="en-US" sz="31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435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Dynamic Environment Perception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05917" y="4078224"/>
            <a:ext cx="3410712" cy="932688"/>
          </a:xfrm>
          <a:prstGeom prst="roundRect">
            <a:avLst>
              <a:gd name="adj" fmla="val 4902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7085" y="4443984"/>
            <a:ext cx="201168" cy="201168"/>
          </a:xfrm>
          <a:prstGeom prst="ellipse">
            <a:avLst/>
          </a:prstGeom>
          <a:solidFill>
            <a:srgbClr val="2C8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17981" y="42336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217981" y="4471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SIH26053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390949" y="4078224"/>
            <a:ext cx="3410712" cy="932688"/>
          </a:xfrm>
          <a:prstGeom prst="roundRect">
            <a:avLst>
              <a:gd name="adj" fmla="val 4902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92117" y="4443984"/>
            <a:ext cx="201168" cy="201168"/>
          </a:xfrm>
          <a:prstGeom prst="ellipse">
            <a:avLst/>
          </a:prstGeom>
          <a:solidFill>
            <a:srgbClr val="D2622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03013" y="42336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903013" y="4471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DRDO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075981" y="4078224"/>
            <a:ext cx="3410712" cy="932688"/>
          </a:xfrm>
          <a:prstGeom prst="roundRect">
            <a:avLst>
              <a:gd name="adj" fmla="val 4902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77149" y="4443984"/>
            <a:ext cx="201168" cy="201168"/>
          </a:xfrm>
          <a:prstGeom prst="ellipse">
            <a:avLst/>
          </a:prstGeom>
          <a:solidFill>
            <a:srgbClr val="7A55B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588045" y="42336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588045" y="4471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05917" y="5138928"/>
            <a:ext cx="3410712" cy="932688"/>
          </a:xfrm>
          <a:prstGeom prst="roundRect">
            <a:avLst>
              <a:gd name="adj" fmla="val 4902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07085" y="5504688"/>
            <a:ext cx="201168" cy="201168"/>
          </a:xfrm>
          <a:prstGeom prst="ellipse">
            <a:avLst/>
          </a:prstGeom>
          <a:solidFill>
            <a:srgbClr val="2E9E6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17981" y="529437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217981" y="55321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4390949" y="5138928"/>
            <a:ext cx="3410712" cy="932688"/>
          </a:xfrm>
          <a:prstGeom prst="roundRect">
            <a:avLst>
              <a:gd name="adj" fmla="val 4902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92117" y="5504688"/>
            <a:ext cx="201168" cy="201168"/>
          </a:xfrm>
          <a:prstGeom prst="ellipse">
            <a:avLst/>
          </a:prstGeom>
          <a:solidFill>
            <a:srgbClr val="D2622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903013" y="529437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4903013" y="55321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FROM PORTAL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8075981" y="5138928"/>
            <a:ext cx="3410712" cy="932688"/>
          </a:xfrm>
          <a:prstGeom prst="roundRect">
            <a:avLst>
              <a:gd name="adj" fmla="val 4902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77149" y="5504688"/>
            <a:ext cx="201168" cy="201168"/>
          </a:xfrm>
          <a:prstGeom prst="ellipse">
            <a:avLst/>
          </a:prstGeom>
          <a:solidFill>
            <a:srgbClr val="006FB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588045" y="529437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588045" y="55321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Raysense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28016"/>
            <a:ext cx="1152144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A6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37744" y="128016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Raysense</a:t>
            </a:r>
            <a:endParaRPr lang="en-US" sz="1250" dirty="0"/>
          </a:p>
        </p:txBody>
      </p:sp>
      <p:pic>
        <p:nvPicPr>
          <p:cNvPr id="4" name="Image 0" descr="deckbuild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91440"/>
            <a:ext cx="1517904" cy="7264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188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Point-Budget Lidar Perception for UGVs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FB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323015" y="64739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9" name="Image 1" descr="deckbuild/fig_donu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4160520" cy="23178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" y="33101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SCAN ALREADY MISSES 9 IN 10 DITCHES</a:t>
            </a:r>
            <a:endParaRPr lang="en-US" sz="1150" dirty="0"/>
          </a:p>
        </p:txBody>
      </p:sp>
      <p:pic>
        <p:nvPicPr>
          <p:cNvPr id="11" name="Image 2" descr="deckbuild/abse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024128"/>
            <a:ext cx="6903720" cy="372168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92040" y="495604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DITCH AND A PATCH YOU NEVER LOOKED AT GIVE THE SAME SIGNAL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5760" y="3749040"/>
            <a:ext cx="4160520" cy="2395728"/>
          </a:xfrm>
          <a:prstGeom prst="roundRect">
            <a:avLst>
              <a:gd name="adj" fmla="val 1908"/>
            </a:avLst>
          </a:prstGeom>
          <a:solidFill>
            <a:srgbClr val="F0F5F1"/>
          </a:solidFill>
          <a:ln w="12700">
            <a:solidFill>
              <a:srgbClr val="2E9E68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66928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566928" y="4187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three-state map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603504" y="4727448"/>
            <a:ext cx="164592" cy="164592"/>
          </a:xfrm>
          <a:prstGeom prst="ellipse">
            <a:avLst/>
          </a:prstGeom>
          <a:solidFill>
            <a:srgbClr val="2E9E68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77824" y="4663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03504" y="5111496"/>
            <a:ext cx="164592" cy="164592"/>
          </a:xfrm>
          <a:prstGeom prst="ellipse">
            <a:avLst/>
          </a:prstGeom>
          <a:solidFill>
            <a:srgbClr val="9A6F0E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77824" y="5047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03504" y="5495544"/>
            <a:ext cx="164592" cy="164592"/>
          </a:xfrm>
          <a:prstGeom prst="ellipse">
            <a:avLst/>
          </a:prstGeom>
          <a:solidFill>
            <a:srgbClr val="D2622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77824" y="5431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CANDIDATE_NEGATIVE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566928" y="5797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is never upgraded to “safe”.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28016"/>
            <a:ext cx="1152144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A6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37744" y="128016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Raysense</a:t>
            </a:r>
            <a:endParaRPr lang="en-US" sz="1250" dirty="0"/>
          </a:p>
        </p:txBody>
      </p:sp>
      <p:pic>
        <p:nvPicPr>
          <p:cNvPr id="4" name="Image 0" descr="deckbuild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91440"/>
            <a:ext cx="1517904" cy="7264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188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FB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323015" y="64739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9" name="Image 1" descr="deckbuild/fig_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33272"/>
            <a:ext cx="5440680" cy="3413225"/>
          </a:xfrm>
          <a:prstGeom prst="rect">
            <a:avLst/>
          </a:prstGeom>
        </p:spPr>
      </p:pic>
      <p:pic>
        <p:nvPicPr>
          <p:cNvPr id="10" name="Image 2" descr="deckbuild/fig_quadrat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868680"/>
            <a:ext cx="5669280" cy="36933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44768" y="45994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DITCHES DEGRADE QUADRATICALLY · BUMPS ONLY LINEARLY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6144768" y="4956048"/>
            <a:ext cx="5669280" cy="786384"/>
          </a:xfrm>
          <a:prstGeom prst="roundRect">
            <a:avLst>
              <a:gd name="adj" fmla="val 5814"/>
            </a:avLst>
          </a:prstGeom>
          <a:solidFill>
            <a:srgbClr val="FDF1EA"/>
          </a:solidFill>
          <a:ln w="12700">
            <a:solidFill>
              <a:srgbClr val="D2622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144768" y="50749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Δθ  ≤  w · h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pPr algn="ctr" indent="0" marL="0">
              <a:buNone/>
            </a:pPr>
            <a:r>
              <a:rPr lang="en-US" sz="2100" b="1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r²</a:t>
            </a:r>
            <a:endParaRPr lang="en-US" sz="2100" dirty="0"/>
          </a:p>
        </p:txBody>
      </p:sp>
      <p:sp>
        <p:nvSpPr>
          <p:cNvPr id="14" name="Shape 9"/>
          <p:cNvSpPr/>
          <p:nvPr/>
        </p:nvSpPr>
        <p:spPr>
          <a:xfrm>
            <a:off x="6144768" y="5888736"/>
            <a:ext cx="2761488" cy="420624"/>
          </a:xfrm>
          <a:prstGeom prst="roundRect">
            <a:avLst>
              <a:gd name="adj" fmla="val 10870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72784" y="6016752"/>
            <a:ext cx="164592" cy="164592"/>
          </a:xfrm>
          <a:prstGeom prst="ellipse">
            <a:avLst/>
          </a:prstGeom>
          <a:solidFill>
            <a:srgbClr val="2C8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528816" y="58887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NumPy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052560" y="5888736"/>
            <a:ext cx="2761488" cy="420624"/>
          </a:xfrm>
          <a:prstGeom prst="roundRect">
            <a:avLst>
              <a:gd name="adj" fmla="val 10870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80576" y="6016752"/>
            <a:ext cx="164592" cy="164592"/>
          </a:xfrm>
          <a:prstGeom prst="ellipse">
            <a:avLst/>
          </a:prstGeom>
          <a:solidFill>
            <a:srgbClr val="7A55B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436608" y="58887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Fixed-grid 2.5D map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44768" y="5888736"/>
            <a:ext cx="2761488" cy="420624"/>
          </a:xfrm>
          <a:prstGeom prst="roundRect">
            <a:avLst>
              <a:gd name="adj" fmla="val 10870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72784" y="6016752"/>
            <a:ext cx="164592" cy="164592"/>
          </a:xfrm>
          <a:prstGeom prst="ellipse">
            <a:avLst/>
          </a:prstGeom>
          <a:solidFill>
            <a:srgbClr val="2E9E68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528816" y="58887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+ live-sensor seam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052560" y="5888736"/>
            <a:ext cx="2761488" cy="420624"/>
          </a:xfrm>
          <a:prstGeom prst="roundRect">
            <a:avLst>
              <a:gd name="adj" fmla="val 10870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80576" y="6016752"/>
            <a:ext cx="164592" cy="164592"/>
          </a:xfrm>
          <a:prstGeom prst="ellipse">
            <a:avLst/>
          </a:prstGeom>
          <a:solidFill>
            <a:srgbClr val="D2622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436608" y="58887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ms / frame · CPU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28016"/>
            <a:ext cx="1152144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A6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37744" y="128016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Raysense</a:t>
            </a:r>
            <a:endParaRPr lang="en-US" sz="1250" dirty="0"/>
          </a:p>
        </p:txBody>
      </p:sp>
      <p:pic>
        <p:nvPicPr>
          <p:cNvPr id="4" name="Image 0" descr="deckbuild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91440"/>
            <a:ext cx="1517904" cy="7264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188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FB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323015" y="64739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9" name="Image 1" descr="deckbuild/fig_thresh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96112"/>
            <a:ext cx="5486400" cy="3429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CHOSEN BY SWEEP, NOT BY EYE</a:t>
            </a:r>
            <a:endParaRPr lang="en-US" sz="1150" dirty="0"/>
          </a:p>
        </p:txBody>
      </p:sp>
      <p:pic>
        <p:nvPicPr>
          <p:cNvPr id="11" name="Image 2" descr="deckbuild/demo_fra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96112"/>
            <a:ext cx="5687568" cy="24264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26480" y="3328416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2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TODAY — 103 TESTS, REPRODUCIBLE BIT-FOR-BIT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126480" y="3712464"/>
            <a:ext cx="1792224" cy="658368"/>
          </a:xfrm>
          <a:prstGeom prst="roundRect">
            <a:avLst>
              <a:gd name="adj" fmla="val 6944"/>
            </a:avLst>
          </a:prstGeom>
          <a:solidFill>
            <a:srgbClr val="F0F5F1"/>
          </a:solidFill>
          <a:ln w="12700">
            <a:solidFill>
              <a:srgbClr val="2E9E68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217920" y="3712464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055864" y="3712464"/>
            <a:ext cx="1792224" cy="658368"/>
          </a:xfrm>
          <a:prstGeom prst="roundRect">
            <a:avLst>
              <a:gd name="adj" fmla="val 6944"/>
            </a:avLst>
          </a:prstGeom>
          <a:solidFill>
            <a:srgbClr val="F0F5F1"/>
          </a:solidFill>
          <a:ln w="12700">
            <a:solidFill>
              <a:srgbClr val="2C8FB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147304" y="3712464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KNOWN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985248" y="3712464"/>
            <a:ext cx="1792224" cy="658368"/>
          </a:xfrm>
          <a:prstGeom prst="roundRect">
            <a:avLst>
              <a:gd name="adj" fmla="val 6944"/>
            </a:avLst>
          </a:prstGeom>
          <a:solidFill>
            <a:srgbClr val="F0F5F1"/>
          </a:solidFill>
          <a:ln w="12700">
            <a:solidFill>
              <a:srgbClr val="7A55B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0076688" y="3712464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TESTS PASS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365760" y="4791456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RISKS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0" y="5102352"/>
            <a:ext cx="3657600" cy="960120"/>
          </a:xfrm>
          <a:prstGeom prst="roundRect">
            <a:avLst>
              <a:gd name="adj" fmla="val 4762"/>
            </a:avLst>
          </a:prstGeom>
          <a:solidFill>
            <a:srgbClr val="FBF3EE"/>
          </a:solidFill>
          <a:ln w="12700">
            <a:solidFill>
              <a:srgbClr val="E4C4B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0352" y="52120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600" dirty="0"/>
          </a:p>
        </p:txBody>
      </p:sp>
      <p:sp>
        <p:nvSpPr>
          <p:cNvPr id="22" name="Text 17"/>
          <p:cNvSpPr txBox="1"/>
          <p:nvPr/>
        </p:nvSpPr>
        <p:spPr>
          <a:xfrm>
            <a:off x="1572768" y="517550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not 100% — crest occlusions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224528" y="5102352"/>
            <a:ext cx="3657600" cy="960120"/>
          </a:xfrm>
          <a:prstGeom prst="roundRect">
            <a:avLst>
              <a:gd name="adj" fmla="val 4762"/>
            </a:avLst>
          </a:prstGeom>
          <a:solidFill>
            <a:srgbClr val="FBF3EE"/>
          </a:solidFill>
          <a:ln w="12700">
            <a:solidFill>
              <a:srgbClr val="E4C4B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389120" y="52120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5" name="Text 20"/>
          <p:cNvSpPr txBox="1"/>
          <p:nvPr/>
        </p:nvSpPr>
        <p:spPr>
          <a:xfrm>
            <a:off x="5431536" y="517550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of RELLIS-3D run so far — next step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083296" y="5102352"/>
            <a:ext cx="3657600" cy="960120"/>
          </a:xfrm>
          <a:prstGeom prst="roundRect">
            <a:avLst>
              <a:gd name="adj" fmla="val 4762"/>
            </a:avLst>
          </a:prstGeom>
          <a:solidFill>
            <a:srgbClr val="FBF3EE"/>
          </a:solidFill>
          <a:ln w="12700">
            <a:solidFill>
              <a:srgbClr val="E4C4B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247888" y="52120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600" dirty="0"/>
          </a:p>
        </p:txBody>
      </p:sp>
      <p:sp>
        <p:nvSpPr>
          <p:cNvPr id="28" name="Text 23"/>
          <p:cNvSpPr txBox="1"/>
          <p:nvPr/>
        </p:nvSpPr>
        <p:spPr>
          <a:xfrm>
            <a:off x="9290304" y="517550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benchmark — we will not quote one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28016"/>
            <a:ext cx="1152144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A6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37744" y="128016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Raysense</a:t>
            </a:r>
            <a:endParaRPr lang="en-US" sz="1250" dirty="0"/>
          </a:p>
        </p:txBody>
      </p:sp>
      <p:pic>
        <p:nvPicPr>
          <p:cNvPr id="4" name="Image 0" descr="deckbuild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91440"/>
            <a:ext cx="1517904" cy="7264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188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FB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323015" y="64739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9" name="Image 1" descr="deckbuild/fig_det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532120" cy="36039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" y="459028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2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OF DITCHES AT 5% OF THE POINTS · 20× FEWER</a:t>
            </a:r>
            <a:endParaRPr lang="en-US" sz="1150" dirty="0"/>
          </a:p>
        </p:txBody>
      </p:sp>
      <p:pic>
        <p:nvPicPr>
          <p:cNvPr id="11" name="Image 2" descr="deckbuild/fig_spee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896112"/>
            <a:ext cx="4663440" cy="326342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37960" y="41879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LIMIT NOBODY PUBLISHED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144768" y="4645152"/>
            <a:ext cx="5669280" cy="502920"/>
          </a:xfrm>
          <a:prstGeom prst="roundRect">
            <a:avLst>
              <a:gd name="adj" fmla="val 9091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309360" y="4800600"/>
            <a:ext cx="192024" cy="192024"/>
          </a:xfrm>
          <a:prstGeom prst="ellipse">
            <a:avLst/>
          </a:prstGeom>
          <a:solidFill>
            <a:srgbClr val="2E9E68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601968" y="46451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UGVs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8549640" y="46451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ground becomes navigable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44768" y="5221224"/>
            <a:ext cx="5669280" cy="502920"/>
          </a:xfrm>
          <a:prstGeom prst="roundRect">
            <a:avLst>
              <a:gd name="adj" fmla="val 9091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09360" y="5376672"/>
            <a:ext cx="192024" cy="192024"/>
          </a:xfrm>
          <a:prstGeom prst="ellipse">
            <a:avLst/>
          </a:prstGeom>
          <a:solidFill>
            <a:srgbClr val="2C8FB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601968" y="522122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operators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549640" y="522122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ditch does not damage a vehicle — it ends it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44768" y="5797296"/>
            <a:ext cx="5669280" cy="502920"/>
          </a:xfrm>
          <a:prstGeom prst="roundRect">
            <a:avLst>
              <a:gd name="adj" fmla="val 9091"/>
            </a:avLst>
          </a:prstGeom>
          <a:solidFill>
            <a:srgbClr val="F6F8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09360" y="5952744"/>
            <a:ext cx="192024" cy="192024"/>
          </a:xfrm>
          <a:prstGeom prst="ellipse">
            <a:avLst/>
          </a:prstGeom>
          <a:solidFill>
            <a:srgbClr val="7A55B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601968" y="57972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designers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549640" y="57972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quantified speed ceiling, per sensor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28016"/>
            <a:ext cx="1152144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A6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37744" y="128016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Raysense</a:t>
            </a:r>
            <a:endParaRPr lang="en-US" sz="1250" dirty="0"/>
          </a:p>
        </p:txBody>
      </p:sp>
      <p:pic>
        <p:nvPicPr>
          <p:cNvPr id="4" name="Image 0" descr="deckbuild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91440"/>
            <a:ext cx="1517904" cy="7264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188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6FB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323015" y="64739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9" name="Image 1" descr="deckbuild/fig_ven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77824"/>
            <a:ext cx="7178040" cy="417085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" y="510235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2E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INVENT ADAPTIVE LIDAR — WE FOUND WHERE IT BREAKS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65760" y="5486400"/>
            <a:ext cx="7178040" cy="731520"/>
          </a:xfrm>
          <a:prstGeom prst="roundRect">
            <a:avLst>
              <a:gd name="adj" fmla="val 6250"/>
            </a:avLst>
          </a:prstGeom>
          <a:solidFill>
            <a:srgbClr val="F0F5F1"/>
          </a:solidFill>
          <a:ln w="12700">
            <a:solidFill>
              <a:srgbClr val="2E9E6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5486400"/>
            <a:ext cx="681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a three-state map · the corrected quadratic floor · a range-normalised gap test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882128" y="877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2C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82128" y="1316736"/>
            <a:ext cx="137160" cy="137160"/>
          </a:xfrm>
          <a:prstGeom prst="ellipse">
            <a:avLst/>
          </a:prstGeom>
          <a:solidFill>
            <a:srgbClr val="2C8FB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38160" y="1243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RELLIS-3D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138160" y="14996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ICRA 2021 · off-road, Ouster OS1-64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882128" y="2103120"/>
            <a:ext cx="137160" cy="137160"/>
          </a:xfrm>
          <a:prstGeom prst="ellipse">
            <a:avLst/>
          </a:prstGeom>
          <a:solidFill>
            <a:srgbClr val="2C8FB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13816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 Labs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138160" y="2286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foveating lidar — Pittaluga et al.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882128" y="2889504"/>
            <a:ext cx="137160" cy="137160"/>
          </a:xfrm>
          <a:prstGeom prst="ellipse">
            <a:avLst/>
          </a:prstGeom>
          <a:solidFill>
            <a:srgbClr val="2C8FB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13816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LiDAR Scanning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138160" y="30723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cues, 2025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882128" y="3675888"/>
            <a:ext cx="137160" cy="137160"/>
          </a:xfrm>
          <a:prstGeom prst="ellipse">
            <a:avLst/>
          </a:prstGeom>
          <a:solidFill>
            <a:srgbClr val="2C8FB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38160" y="3602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AEye iDAR / 4Sight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8138160" y="38587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11675053 · 11782136 · 11860313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882128" y="4462272"/>
            <a:ext cx="137160" cy="137160"/>
          </a:xfrm>
          <a:prstGeom prst="ellipse">
            <a:avLst/>
          </a:prstGeom>
          <a:solidFill>
            <a:srgbClr val="2C8FB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13816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Larson &amp; Trivedi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138160" y="46451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DTIC ADA561293 — negative obstacles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882128" y="5248656"/>
            <a:ext cx="137160" cy="137160"/>
          </a:xfrm>
          <a:prstGeom prst="ellipse">
            <a:avLst/>
          </a:prstGeom>
          <a:solidFill>
            <a:srgbClr val="2C8FBF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8138160" y="5175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ROBIO 2024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8138160" y="54315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3D lidar, off-road ditches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2026-09-12T05:42:48Z</dcterms:created>
  <dcterms:modified xsi:type="dcterms:W3CDTF">2026-09-12T05:42:48Z</dcterms:modified>
</cp:coreProperties>
</file>