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PRANAVI — 55s. PS ID + DRDO. Then 93% / 11%. PAUSE 3s after "eleven percent".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JEEVIKA — 96s. Walk A / B / C. Land on "B and C are identical". Then the three states, then novelty.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NIKITA — 84s. 0.7 m spacing at 10 m, 9 m at 30 m. That is why a 6 m ditch at 30 m is invisible. Then the six steps.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NIKITA — 48s. No new hardware, ground truth known. Volunteer all three risks — especially that RELLIS has NOT been run.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ANUJ — 66s. Warmest delivery. Three audiences, then land on 23 km/h and PAUSE.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PRANAVI — 41s. We cite these BECAUSE the field exists. Close on the three numbers and stop.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28016"/>
            <a:ext cx="1152144" cy="530352"/>
          </a:xfrm>
          <a:prstGeom prst="ellipse">
            <a:avLst/>
          </a:prstGeom>
          <a:solidFill>
            <a:srgbClr val="FFFFFF"/>
          </a:solidFill>
          <a:ln w="15240">
            <a:solidFill>
              <a:srgbClr val="7A6FA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37744" y="128016"/>
            <a:ext cx="115214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4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Raysense</a:t>
            </a:r>
            <a:endParaRPr lang="en-US" sz="1250" dirty="0"/>
          </a:p>
        </p:txBody>
      </p:sp>
      <p:pic>
        <p:nvPicPr>
          <p:cNvPr id="4" name="Image 0" descr="deckbuild/sih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69880" y="91440"/>
            <a:ext cx="1481328" cy="58521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006FBF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@SIH Idea submission- Template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11323015" y="6473952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1463040" y="1078992"/>
            <a:ext cx="9235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spc="200" kern="0" dirty="0">
                <a:solidFill>
                  <a:srgbClr val="6E7B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SMART INDIA HACKATHON 2026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1572768"/>
            <a:ext cx="10515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006FB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Adaptive Variable Resolution 2.5D Lidar Mapping</a:t>
            </a:r>
            <a:endParaRPr lang="en-US" sz="33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2194560"/>
            <a:ext cx="10515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4350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Dynamic Environment Perception</a:t>
            </a:r>
            <a:endParaRPr lang="en-US" sz="2400" dirty="0"/>
          </a:p>
        </p:txBody>
      </p:sp>
      <p:pic>
        <p:nvPicPr>
          <p:cNvPr id="11" name="Image 1" descr="deckbuild/fig_threesta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0008" y="2834640"/>
            <a:ext cx="7498080" cy="2020501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868680" y="5120640"/>
            <a:ext cx="2560320" cy="896112"/>
          </a:xfrm>
          <a:prstGeom prst="roundRect">
            <a:avLst>
              <a:gd name="adj" fmla="val 5102"/>
            </a:avLst>
          </a:prstGeom>
          <a:solidFill>
            <a:srgbClr val="F6F8F5"/>
          </a:solidFill>
          <a:ln w="12700">
            <a:solidFill>
              <a:srgbClr val="D9DED6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1033272" y="5440680"/>
            <a:ext cx="201168" cy="201168"/>
          </a:xfrm>
          <a:prstGeom prst="ellipse">
            <a:avLst/>
          </a:prstGeom>
          <a:solidFill>
            <a:srgbClr val="2C8FBF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1325880" y="5248656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E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 ID</a:t>
            </a:r>
            <a:endParaRPr lang="en-US" sz="950" dirty="0"/>
          </a:p>
        </p:txBody>
      </p:sp>
      <p:sp>
        <p:nvSpPr>
          <p:cNvPr id="15" name="Text 11"/>
          <p:cNvSpPr txBox="1"/>
          <p:nvPr/>
        </p:nvSpPr>
        <p:spPr>
          <a:xfrm>
            <a:off x="1325880" y="5486400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SIH26053</a:t>
            </a:r>
            <a:endParaRPr lang="en-US" sz="1450" dirty="0"/>
          </a:p>
        </p:txBody>
      </p:sp>
      <p:sp>
        <p:nvSpPr>
          <p:cNvPr id="16" name="Shape 12"/>
          <p:cNvSpPr/>
          <p:nvPr/>
        </p:nvSpPr>
        <p:spPr>
          <a:xfrm>
            <a:off x="3611880" y="5120640"/>
            <a:ext cx="2560320" cy="896112"/>
          </a:xfrm>
          <a:prstGeom prst="roundRect">
            <a:avLst>
              <a:gd name="adj" fmla="val 5102"/>
            </a:avLst>
          </a:prstGeom>
          <a:solidFill>
            <a:srgbClr val="F6F8F5"/>
          </a:solidFill>
          <a:ln w="12700">
            <a:solidFill>
              <a:srgbClr val="D9DED6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3776472" y="5440680"/>
            <a:ext cx="201168" cy="201168"/>
          </a:xfrm>
          <a:prstGeom prst="ellipse">
            <a:avLst/>
          </a:prstGeom>
          <a:solidFill>
            <a:srgbClr val="D2622A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4069080" y="5248656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E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ORGANISATION</a:t>
            </a:r>
            <a:endParaRPr lang="en-US" sz="950" dirty="0"/>
          </a:p>
        </p:txBody>
      </p:sp>
      <p:sp>
        <p:nvSpPr>
          <p:cNvPr id="19" name="Text 15"/>
          <p:cNvSpPr txBox="1"/>
          <p:nvPr/>
        </p:nvSpPr>
        <p:spPr>
          <a:xfrm>
            <a:off x="4069080" y="5486400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DRDO</a:t>
            </a:r>
            <a:endParaRPr lang="en-US" sz="1450" dirty="0"/>
          </a:p>
        </p:txBody>
      </p:sp>
      <p:sp>
        <p:nvSpPr>
          <p:cNvPr id="20" name="Shape 16"/>
          <p:cNvSpPr/>
          <p:nvPr/>
        </p:nvSpPr>
        <p:spPr>
          <a:xfrm>
            <a:off x="6355080" y="5120640"/>
            <a:ext cx="2560320" cy="896112"/>
          </a:xfrm>
          <a:prstGeom prst="roundRect">
            <a:avLst>
              <a:gd name="adj" fmla="val 5102"/>
            </a:avLst>
          </a:prstGeom>
          <a:solidFill>
            <a:srgbClr val="F6F8F5"/>
          </a:solidFill>
          <a:ln w="12700">
            <a:solidFill>
              <a:srgbClr val="D9DED6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519672" y="5440680"/>
            <a:ext cx="201168" cy="201168"/>
          </a:xfrm>
          <a:prstGeom prst="ellipse">
            <a:avLst/>
          </a:prstGeom>
          <a:solidFill>
            <a:srgbClr val="7A55B5"/>
          </a:solidFill>
          <a:ln/>
        </p:spPr>
      </p:sp>
      <p:sp>
        <p:nvSpPr>
          <p:cNvPr id="22" name="Text 18"/>
          <p:cNvSpPr txBox="1"/>
          <p:nvPr/>
        </p:nvSpPr>
        <p:spPr>
          <a:xfrm>
            <a:off x="6812280" y="5248656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E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</a:t>
            </a:r>
            <a:endParaRPr lang="en-US" sz="950" dirty="0"/>
          </a:p>
        </p:txBody>
      </p:sp>
      <p:sp>
        <p:nvSpPr>
          <p:cNvPr id="23" name="Text 19"/>
          <p:cNvSpPr txBox="1"/>
          <p:nvPr/>
        </p:nvSpPr>
        <p:spPr>
          <a:xfrm>
            <a:off x="6812280" y="5486400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Vehicles</a:t>
            </a:r>
            <a:endParaRPr lang="en-US" sz="1450" dirty="0"/>
          </a:p>
        </p:txBody>
      </p:sp>
      <p:sp>
        <p:nvSpPr>
          <p:cNvPr id="24" name="Shape 20"/>
          <p:cNvSpPr/>
          <p:nvPr/>
        </p:nvSpPr>
        <p:spPr>
          <a:xfrm>
            <a:off x="9098280" y="5120640"/>
            <a:ext cx="2560320" cy="896112"/>
          </a:xfrm>
          <a:prstGeom prst="roundRect">
            <a:avLst>
              <a:gd name="adj" fmla="val 5102"/>
            </a:avLst>
          </a:prstGeom>
          <a:solidFill>
            <a:srgbClr val="F6F8F5"/>
          </a:solidFill>
          <a:ln w="12700">
            <a:solidFill>
              <a:srgbClr val="D9DED6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9262872" y="5440680"/>
            <a:ext cx="201168" cy="201168"/>
          </a:xfrm>
          <a:prstGeom prst="ellipse">
            <a:avLst/>
          </a:prstGeom>
          <a:solidFill>
            <a:srgbClr val="2E9E68"/>
          </a:solidFill>
          <a:ln/>
        </p:spPr>
      </p:sp>
      <p:sp>
        <p:nvSpPr>
          <p:cNvPr id="26" name="Text 22"/>
          <p:cNvSpPr txBox="1"/>
          <p:nvPr/>
        </p:nvSpPr>
        <p:spPr>
          <a:xfrm>
            <a:off x="9555480" y="5248656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E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</a:t>
            </a:r>
            <a:endParaRPr lang="en-US" sz="950" dirty="0"/>
          </a:p>
        </p:txBody>
      </p:sp>
      <p:sp>
        <p:nvSpPr>
          <p:cNvPr id="27" name="Text 23"/>
          <p:cNvSpPr txBox="1"/>
          <p:nvPr/>
        </p:nvSpPr>
        <p:spPr>
          <a:xfrm>
            <a:off x="9555480" y="5486400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</a:t>
            </a:r>
            <a:endParaRPr lang="en-US" sz="1450" dirty="0"/>
          </a:p>
        </p:txBody>
      </p:sp>
      <p:sp>
        <p:nvSpPr>
          <p:cNvPr id="28" name="Text 24"/>
          <p:cNvSpPr txBox="1"/>
          <p:nvPr/>
        </p:nvSpPr>
        <p:spPr>
          <a:xfrm>
            <a:off x="822960" y="6089904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6E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Raysense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28016"/>
            <a:ext cx="1152144" cy="530352"/>
          </a:xfrm>
          <a:prstGeom prst="ellipse">
            <a:avLst/>
          </a:prstGeom>
          <a:solidFill>
            <a:srgbClr val="FFFFFF"/>
          </a:solidFill>
          <a:ln w="15240">
            <a:solidFill>
              <a:srgbClr val="7A6FA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37744" y="128016"/>
            <a:ext cx="115214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4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Raysense</a:t>
            </a:r>
            <a:endParaRPr lang="en-US" sz="1250" dirty="0"/>
          </a:p>
        </p:txBody>
      </p:sp>
      <p:pic>
        <p:nvPicPr>
          <p:cNvPr id="4" name="Image 0" descr="deckbuild/sih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69880" y="91440"/>
            <a:ext cx="1481328" cy="58521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554480" y="118872"/>
            <a:ext cx="8778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141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Adaptive Point-Budget Lidar Perception for UGVs</a:t>
            </a:r>
            <a:endParaRPr lang="en-US" sz="2900" dirty="0"/>
          </a:p>
        </p:txBody>
      </p:sp>
      <p:sp>
        <p:nvSpPr>
          <p:cNvPr id="6" name="Shap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006FB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@SIH Idea submission- Template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11323015" y="6473952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pic>
        <p:nvPicPr>
          <p:cNvPr id="9" name="Image 1" descr="deckbuild/fig_donu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4160520" cy="231783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365760" y="3310128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80" kern="0" dirty="0">
                <a:solidFill>
                  <a:srgbClr val="D2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FULL SCAN ALREADY MISSES 9 IN 10 DITCHES</a:t>
            </a:r>
            <a:endParaRPr lang="en-US" sz="1150" dirty="0"/>
          </a:p>
        </p:txBody>
      </p:sp>
      <p:pic>
        <p:nvPicPr>
          <p:cNvPr id="11" name="Image 2" descr="deckbuild/absenc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024128"/>
            <a:ext cx="6903720" cy="372168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892040" y="4956048"/>
            <a:ext cx="6903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80" kern="0" dirty="0">
                <a:solidFill>
                  <a:srgbClr val="D2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DITCH AND A PATCH YOU NEVER LOOKED AT GIVE THE SAME SIGNAL</a:t>
            </a:r>
            <a:endParaRPr lang="en-US" sz="1150" dirty="0"/>
          </a:p>
        </p:txBody>
      </p:sp>
      <p:sp>
        <p:nvSpPr>
          <p:cNvPr id="13" name="Shape 8"/>
          <p:cNvSpPr/>
          <p:nvPr/>
        </p:nvSpPr>
        <p:spPr>
          <a:xfrm>
            <a:off x="365760" y="3749040"/>
            <a:ext cx="4160520" cy="2395728"/>
          </a:xfrm>
          <a:prstGeom prst="roundRect">
            <a:avLst>
              <a:gd name="adj" fmla="val 1908"/>
            </a:avLst>
          </a:prstGeom>
          <a:solidFill>
            <a:srgbClr val="F0F5F1"/>
          </a:solidFill>
          <a:ln w="12700">
            <a:solidFill>
              <a:srgbClr val="2E9E68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566928" y="391363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2E9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ANSWER</a:t>
            </a:r>
            <a:endParaRPr lang="en-US" sz="1150" dirty="0"/>
          </a:p>
        </p:txBody>
      </p:sp>
      <p:sp>
        <p:nvSpPr>
          <p:cNvPr id="15" name="Text 10"/>
          <p:cNvSpPr txBox="1"/>
          <p:nvPr/>
        </p:nvSpPr>
        <p:spPr>
          <a:xfrm>
            <a:off x="566928" y="4187952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1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three-state map</a:t>
            </a:r>
            <a:endParaRPr lang="en-US" sz="2000" dirty="0"/>
          </a:p>
        </p:txBody>
      </p:sp>
      <p:sp>
        <p:nvSpPr>
          <p:cNvPr id="16" name="Shape 11"/>
          <p:cNvSpPr/>
          <p:nvPr/>
        </p:nvSpPr>
        <p:spPr>
          <a:xfrm>
            <a:off x="603504" y="4727448"/>
            <a:ext cx="164592" cy="164592"/>
          </a:xfrm>
          <a:prstGeom prst="ellipse">
            <a:avLst/>
          </a:prstGeom>
          <a:solidFill>
            <a:srgbClr val="2E9E68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877824" y="4663440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9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OBSERVED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603504" y="5111496"/>
            <a:ext cx="164592" cy="164592"/>
          </a:xfrm>
          <a:prstGeom prst="ellipse">
            <a:avLst/>
          </a:prstGeom>
          <a:solidFill>
            <a:srgbClr val="9A6F0E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877824" y="5047488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A6F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UNKNOWN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603504" y="5495544"/>
            <a:ext cx="164592" cy="164592"/>
          </a:xfrm>
          <a:prstGeom prst="ellipse">
            <a:avLst/>
          </a:prstGeom>
          <a:solidFill>
            <a:srgbClr val="D2622A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877824" y="5431536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2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CANDIDATE_NEGATIVE</a:t>
            </a:r>
            <a:endParaRPr lang="en-US" sz="1250" dirty="0"/>
          </a:p>
        </p:txBody>
      </p:sp>
      <p:sp>
        <p:nvSpPr>
          <p:cNvPr id="22" name="Text 17"/>
          <p:cNvSpPr txBox="1"/>
          <p:nvPr/>
        </p:nvSpPr>
        <p:spPr>
          <a:xfrm>
            <a:off x="566928" y="579729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435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Unknown is never upgraded to “safe”.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28016"/>
            <a:ext cx="1152144" cy="530352"/>
          </a:xfrm>
          <a:prstGeom prst="ellipse">
            <a:avLst/>
          </a:prstGeom>
          <a:solidFill>
            <a:srgbClr val="FFFFFF"/>
          </a:solidFill>
          <a:ln w="15240">
            <a:solidFill>
              <a:srgbClr val="7A6FA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37744" y="128016"/>
            <a:ext cx="115214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4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Raysense</a:t>
            </a:r>
            <a:endParaRPr lang="en-US" sz="1250" dirty="0"/>
          </a:p>
        </p:txBody>
      </p:sp>
      <p:pic>
        <p:nvPicPr>
          <p:cNvPr id="4" name="Image 0" descr="deckbuild/sih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69880" y="91440"/>
            <a:ext cx="1481328" cy="58521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554480" y="118872"/>
            <a:ext cx="8778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141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TECHNICAL APPROACH</a:t>
            </a:r>
            <a:endParaRPr lang="en-US" sz="2900" dirty="0"/>
          </a:p>
        </p:txBody>
      </p:sp>
      <p:sp>
        <p:nvSpPr>
          <p:cNvPr id="6" name="Shap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006FB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@SIH Idea submission- Template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11323015" y="6473952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pic>
        <p:nvPicPr>
          <p:cNvPr id="9" name="Image 1" descr="deckbuild/fig_pipeli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33272"/>
            <a:ext cx="5440680" cy="3413225"/>
          </a:xfrm>
          <a:prstGeom prst="rect">
            <a:avLst/>
          </a:prstGeom>
        </p:spPr>
      </p:pic>
      <p:pic>
        <p:nvPicPr>
          <p:cNvPr id="10" name="Image 2" descr="deckbuild/fig_quadrati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4768" y="868680"/>
            <a:ext cx="5669280" cy="3693342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6144768" y="4599432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80" kern="0" dirty="0">
                <a:solidFill>
                  <a:srgbClr val="D2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DITCHES DEGRADE QUADRATICALLY · BUMPS ONLY LINEARLY</a:t>
            </a:r>
            <a:endParaRPr lang="en-US" sz="1150" dirty="0"/>
          </a:p>
        </p:txBody>
      </p:sp>
      <p:sp>
        <p:nvSpPr>
          <p:cNvPr id="12" name="Shape 7"/>
          <p:cNvSpPr/>
          <p:nvPr/>
        </p:nvSpPr>
        <p:spPr>
          <a:xfrm>
            <a:off x="6144768" y="4956048"/>
            <a:ext cx="5669280" cy="786384"/>
          </a:xfrm>
          <a:prstGeom prst="roundRect">
            <a:avLst>
              <a:gd name="adj" fmla="val 5814"/>
            </a:avLst>
          </a:prstGeom>
          <a:solidFill>
            <a:srgbClr val="FDF1EA"/>
          </a:solidFill>
          <a:ln w="12700">
            <a:solidFill>
              <a:srgbClr val="D2622A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144768" y="5074920"/>
            <a:ext cx="5669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D2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Δθ  ≤  w · h</a:t>
            </a:r>
            <a:pPr algn="ctr" indent="0" marL="0">
              <a:buNone/>
            </a:pPr>
            <a:r>
              <a:rPr lang="en-US" sz="2100" b="1" baseline="-40000" dirty="0">
                <a:solidFill>
                  <a:srgbClr val="D2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</a:t>
            </a:r>
            <a:pPr algn="ctr" indent="0" marL="0">
              <a:buNone/>
            </a:pPr>
            <a:r>
              <a:rPr lang="en-US" sz="2100" b="1" dirty="0">
                <a:solidFill>
                  <a:srgbClr val="D2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/  r²</a:t>
            </a:r>
            <a:endParaRPr lang="en-US" sz="2100" dirty="0"/>
          </a:p>
        </p:txBody>
      </p:sp>
      <p:sp>
        <p:nvSpPr>
          <p:cNvPr id="14" name="Shape 9"/>
          <p:cNvSpPr/>
          <p:nvPr/>
        </p:nvSpPr>
        <p:spPr>
          <a:xfrm>
            <a:off x="6144768" y="5888736"/>
            <a:ext cx="2761488" cy="420624"/>
          </a:xfrm>
          <a:prstGeom prst="roundRect">
            <a:avLst>
              <a:gd name="adj" fmla="val 10870"/>
            </a:avLst>
          </a:prstGeom>
          <a:solidFill>
            <a:srgbClr val="F6F8F5"/>
          </a:solidFill>
          <a:ln w="12700">
            <a:solidFill>
              <a:srgbClr val="D9DED6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6272784" y="6016752"/>
            <a:ext cx="164592" cy="164592"/>
          </a:xfrm>
          <a:prstGeom prst="ellipse">
            <a:avLst/>
          </a:prstGeom>
          <a:solidFill>
            <a:srgbClr val="2C8FBF"/>
          </a:solidFill>
          <a:ln/>
        </p:spPr>
      </p:sp>
      <p:sp>
        <p:nvSpPr>
          <p:cNvPr id="16" name="Text 11"/>
          <p:cNvSpPr txBox="1"/>
          <p:nvPr/>
        </p:nvSpPr>
        <p:spPr>
          <a:xfrm>
            <a:off x="6528816" y="5888736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35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· NumPy · Numba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9052560" y="5888736"/>
            <a:ext cx="2761488" cy="420624"/>
          </a:xfrm>
          <a:prstGeom prst="roundRect">
            <a:avLst>
              <a:gd name="adj" fmla="val 10870"/>
            </a:avLst>
          </a:prstGeom>
          <a:solidFill>
            <a:srgbClr val="F6F8F5"/>
          </a:solidFill>
          <a:ln w="12700">
            <a:solidFill>
              <a:srgbClr val="D9DED6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9180576" y="6016752"/>
            <a:ext cx="164592" cy="164592"/>
          </a:xfrm>
          <a:prstGeom prst="ellipse">
            <a:avLst/>
          </a:prstGeom>
          <a:solidFill>
            <a:srgbClr val="7A55B5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9436608" y="5888736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35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Open3D · quadtree map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144768" y="5888736"/>
            <a:ext cx="2761488" cy="420624"/>
          </a:xfrm>
          <a:prstGeom prst="roundRect">
            <a:avLst>
              <a:gd name="adj" fmla="val 10870"/>
            </a:avLst>
          </a:prstGeom>
          <a:solidFill>
            <a:srgbClr val="F6F8F5"/>
          </a:solidFill>
          <a:ln w="12700">
            <a:solidFill>
              <a:srgbClr val="D9DED6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6272784" y="6016752"/>
            <a:ext cx="164592" cy="164592"/>
          </a:xfrm>
          <a:prstGeom prst="ellipse">
            <a:avLst/>
          </a:prstGeom>
          <a:solidFill>
            <a:srgbClr val="2E9E68"/>
          </a:solidFill>
          <a:ln/>
        </p:spPr>
      </p:sp>
      <p:sp>
        <p:nvSpPr>
          <p:cNvPr id="22" name="Text 17"/>
          <p:cNvSpPr txBox="1"/>
          <p:nvPr/>
        </p:nvSpPr>
        <p:spPr>
          <a:xfrm>
            <a:off x="6528816" y="5888736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35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sensor backends</a:t>
            </a:r>
            <a:endParaRPr lang="en-US" sz="1100" dirty="0"/>
          </a:p>
        </p:txBody>
      </p:sp>
      <p:sp>
        <p:nvSpPr>
          <p:cNvPr id="23" name="Shape 18"/>
          <p:cNvSpPr/>
          <p:nvPr/>
        </p:nvSpPr>
        <p:spPr>
          <a:xfrm>
            <a:off x="9052560" y="5888736"/>
            <a:ext cx="2761488" cy="420624"/>
          </a:xfrm>
          <a:prstGeom prst="roundRect">
            <a:avLst>
              <a:gd name="adj" fmla="val 10870"/>
            </a:avLst>
          </a:prstGeom>
          <a:solidFill>
            <a:srgbClr val="F6F8F5"/>
          </a:solidFill>
          <a:ln w="12700">
            <a:solidFill>
              <a:srgbClr val="D9DED6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9180576" y="6016752"/>
            <a:ext cx="164592" cy="164592"/>
          </a:xfrm>
          <a:prstGeom prst="ellipse">
            <a:avLst/>
          </a:prstGeom>
          <a:solidFill>
            <a:srgbClr val="D2622A"/>
          </a:solidFill>
          <a:ln/>
        </p:spPr>
      </p:sp>
      <p:sp>
        <p:nvSpPr>
          <p:cNvPr id="25" name="Text 20"/>
          <p:cNvSpPr txBox="1"/>
          <p:nvPr/>
        </p:nvSpPr>
        <p:spPr>
          <a:xfrm>
            <a:off x="9436608" y="5888736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35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 ms / frame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28016"/>
            <a:ext cx="1152144" cy="530352"/>
          </a:xfrm>
          <a:prstGeom prst="ellipse">
            <a:avLst/>
          </a:prstGeom>
          <a:solidFill>
            <a:srgbClr val="FFFFFF"/>
          </a:solidFill>
          <a:ln w="15240">
            <a:solidFill>
              <a:srgbClr val="7A6FA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37744" y="128016"/>
            <a:ext cx="115214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4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Raysense</a:t>
            </a:r>
            <a:endParaRPr lang="en-US" sz="1250" dirty="0"/>
          </a:p>
        </p:txBody>
      </p:sp>
      <p:pic>
        <p:nvPicPr>
          <p:cNvPr id="4" name="Image 0" descr="deckbuild/sih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69880" y="91440"/>
            <a:ext cx="1481328" cy="58521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554480" y="118872"/>
            <a:ext cx="8778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141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FEASIBILITY AND VIABILITY</a:t>
            </a:r>
            <a:endParaRPr lang="en-US" sz="2900" dirty="0"/>
          </a:p>
        </p:txBody>
      </p:sp>
      <p:sp>
        <p:nvSpPr>
          <p:cNvPr id="6" name="Shap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006FB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@SIH Idea submission- Template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11323015" y="6473952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pic>
        <p:nvPicPr>
          <p:cNvPr id="9" name="Image 1" descr="deckbuild/fig_thresho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96112"/>
            <a:ext cx="5486400" cy="34290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365760" y="43708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80" kern="0" dirty="0">
                <a:solidFill>
                  <a:srgbClr val="6E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PARAMETER CHOSEN BY SWEEP, NOT BY EYE</a:t>
            </a:r>
            <a:endParaRPr lang="en-US" sz="1150" dirty="0"/>
          </a:p>
        </p:txBody>
      </p:sp>
      <p:pic>
        <p:nvPicPr>
          <p:cNvPr id="11" name="Image 2" descr="deckbuild/demo_fram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896112"/>
            <a:ext cx="5687568" cy="2426437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6126480" y="3328416"/>
            <a:ext cx="5687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80" kern="0" dirty="0">
                <a:solidFill>
                  <a:srgbClr val="2E9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RUNS TODAY — 103 TESTS, REPRODUCIBLE BIT-FOR-BIT</a:t>
            </a:r>
            <a:endParaRPr lang="en-US" sz="1150" dirty="0"/>
          </a:p>
        </p:txBody>
      </p:sp>
      <p:sp>
        <p:nvSpPr>
          <p:cNvPr id="13" name="Shape 8"/>
          <p:cNvSpPr/>
          <p:nvPr/>
        </p:nvSpPr>
        <p:spPr>
          <a:xfrm>
            <a:off x="6126480" y="3712464"/>
            <a:ext cx="1792224" cy="658368"/>
          </a:xfrm>
          <a:prstGeom prst="roundRect">
            <a:avLst>
              <a:gd name="adj" fmla="val 6944"/>
            </a:avLst>
          </a:prstGeom>
          <a:solidFill>
            <a:srgbClr val="F0F5F1"/>
          </a:solidFill>
          <a:ln w="12700">
            <a:solidFill>
              <a:srgbClr val="2E9E68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6217920" y="3712464"/>
            <a:ext cx="16093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E9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NEW HARDWARE</a:t>
            </a:r>
            <a:endParaRPr lang="en-US" sz="1050" dirty="0"/>
          </a:p>
        </p:txBody>
      </p:sp>
      <p:sp>
        <p:nvSpPr>
          <p:cNvPr id="15" name="Shape 10"/>
          <p:cNvSpPr/>
          <p:nvPr/>
        </p:nvSpPr>
        <p:spPr>
          <a:xfrm>
            <a:off x="8055864" y="3712464"/>
            <a:ext cx="1792224" cy="658368"/>
          </a:xfrm>
          <a:prstGeom prst="roundRect">
            <a:avLst>
              <a:gd name="adj" fmla="val 6944"/>
            </a:avLst>
          </a:prstGeom>
          <a:solidFill>
            <a:srgbClr val="F0F5F1"/>
          </a:solidFill>
          <a:ln w="12700">
            <a:solidFill>
              <a:srgbClr val="2C8FBF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8147304" y="3712464"/>
            <a:ext cx="16093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C8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TRUTH KNOWN</a:t>
            </a:r>
            <a:endParaRPr lang="en-US" sz="1050" dirty="0"/>
          </a:p>
        </p:txBody>
      </p:sp>
      <p:sp>
        <p:nvSpPr>
          <p:cNvPr id="17" name="Shape 12"/>
          <p:cNvSpPr/>
          <p:nvPr/>
        </p:nvSpPr>
        <p:spPr>
          <a:xfrm>
            <a:off x="9985248" y="3712464"/>
            <a:ext cx="1792224" cy="658368"/>
          </a:xfrm>
          <a:prstGeom prst="roundRect">
            <a:avLst>
              <a:gd name="adj" fmla="val 6944"/>
            </a:avLst>
          </a:prstGeom>
          <a:solidFill>
            <a:srgbClr val="F0F5F1"/>
          </a:solidFill>
          <a:ln w="12700">
            <a:solidFill>
              <a:srgbClr val="7A55B5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10076688" y="3712464"/>
            <a:ext cx="16093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7A55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103 TESTS PASS</a:t>
            </a:r>
            <a:endParaRPr lang="en-US" sz="1050" dirty="0"/>
          </a:p>
        </p:txBody>
      </p:sp>
      <p:sp>
        <p:nvSpPr>
          <p:cNvPr id="19" name="Text 14"/>
          <p:cNvSpPr txBox="1"/>
          <p:nvPr/>
        </p:nvSpPr>
        <p:spPr>
          <a:xfrm>
            <a:off x="365760" y="4791456"/>
            <a:ext cx="11430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D2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RISKS</a:t>
            </a:r>
            <a:endParaRPr lang="en-US" sz="1200" dirty="0"/>
          </a:p>
        </p:txBody>
      </p:sp>
      <p:sp>
        <p:nvSpPr>
          <p:cNvPr id="20" name="Shape 15"/>
          <p:cNvSpPr/>
          <p:nvPr/>
        </p:nvSpPr>
        <p:spPr>
          <a:xfrm>
            <a:off x="365760" y="5102352"/>
            <a:ext cx="3657600" cy="960120"/>
          </a:xfrm>
          <a:prstGeom prst="roundRect">
            <a:avLst>
              <a:gd name="adj" fmla="val 4762"/>
            </a:avLst>
          </a:prstGeom>
          <a:solidFill>
            <a:srgbClr val="FBF3EE"/>
          </a:solidFill>
          <a:ln w="12700">
            <a:solidFill>
              <a:srgbClr val="E4C4B2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530352" y="5212080"/>
            <a:ext cx="960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2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73%</a:t>
            </a:r>
            <a:endParaRPr lang="en-US" sz="2600" dirty="0"/>
          </a:p>
        </p:txBody>
      </p:sp>
      <p:sp>
        <p:nvSpPr>
          <p:cNvPr id="22" name="Text 17"/>
          <p:cNvSpPr txBox="1"/>
          <p:nvPr/>
        </p:nvSpPr>
        <p:spPr>
          <a:xfrm>
            <a:off x="1572768" y="5175504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5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precision, not 100% — crest occlusions</a:t>
            </a:r>
            <a:endParaRPr lang="en-US" sz="1150" dirty="0"/>
          </a:p>
        </p:txBody>
      </p:sp>
      <p:sp>
        <p:nvSpPr>
          <p:cNvPr id="23" name="Shape 18"/>
          <p:cNvSpPr/>
          <p:nvPr/>
        </p:nvSpPr>
        <p:spPr>
          <a:xfrm>
            <a:off x="4224528" y="5102352"/>
            <a:ext cx="3657600" cy="960120"/>
          </a:xfrm>
          <a:prstGeom prst="roundRect">
            <a:avLst>
              <a:gd name="adj" fmla="val 4762"/>
            </a:avLst>
          </a:prstGeom>
          <a:solidFill>
            <a:srgbClr val="FBF3EE"/>
          </a:solidFill>
          <a:ln w="12700">
            <a:solidFill>
              <a:srgbClr val="E4C4B2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4389120" y="5212080"/>
            <a:ext cx="960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2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600" dirty="0"/>
          </a:p>
        </p:txBody>
      </p:sp>
      <p:sp>
        <p:nvSpPr>
          <p:cNvPr id="25" name="Text 20"/>
          <p:cNvSpPr txBox="1"/>
          <p:nvPr/>
        </p:nvSpPr>
        <p:spPr>
          <a:xfrm>
            <a:off x="5431536" y="5175504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5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frames of RELLIS-3D run so far — next step</a:t>
            </a:r>
            <a:endParaRPr lang="en-US" sz="1150" dirty="0"/>
          </a:p>
        </p:txBody>
      </p:sp>
      <p:sp>
        <p:nvSpPr>
          <p:cNvPr id="26" name="Shape 21"/>
          <p:cNvSpPr/>
          <p:nvPr/>
        </p:nvSpPr>
        <p:spPr>
          <a:xfrm>
            <a:off x="8083296" y="5102352"/>
            <a:ext cx="3657600" cy="960120"/>
          </a:xfrm>
          <a:prstGeom prst="roundRect">
            <a:avLst>
              <a:gd name="adj" fmla="val 4762"/>
            </a:avLst>
          </a:prstGeom>
          <a:solidFill>
            <a:srgbClr val="FBF3EE"/>
          </a:solidFill>
          <a:ln w="12700">
            <a:solidFill>
              <a:srgbClr val="E4C4B2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8247888" y="5212080"/>
            <a:ext cx="960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2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2600" dirty="0"/>
          </a:p>
        </p:txBody>
      </p:sp>
      <p:sp>
        <p:nvSpPr>
          <p:cNvPr id="28" name="Text 23"/>
          <p:cNvSpPr txBox="1"/>
          <p:nvPr/>
        </p:nvSpPr>
        <p:spPr>
          <a:xfrm>
            <a:off x="9290304" y="5175504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5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Jetson benchmark — we will not quote one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28016"/>
            <a:ext cx="1152144" cy="530352"/>
          </a:xfrm>
          <a:prstGeom prst="ellipse">
            <a:avLst/>
          </a:prstGeom>
          <a:solidFill>
            <a:srgbClr val="FFFFFF"/>
          </a:solidFill>
          <a:ln w="15240">
            <a:solidFill>
              <a:srgbClr val="7A6FA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37744" y="128016"/>
            <a:ext cx="115214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4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Raysense</a:t>
            </a:r>
            <a:endParaRPr lang="en-US" sz="1250" dirty="0"/>
          </a:p>
        </p:txBody>
      </p:sp>
      <p:pic>
        <p:nvPicPr>
          <p:cNvPr id="4" name="Image 0" descr="deckbuild/sih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69880" y="91440"/>
            <a:ext cx="1481328" cy="58521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554480" y="118872"/>
            <a:ext cx="8778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141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IMPACT AND BENEFITS</a:t>
            </a:r>
            <a:endParaRPr lang="en-US" sz="2900" dirty="0"/>
          </a:p>
        </p:txBody>
      </p:sp>
      <p:sp>
        <p:nvSpPr>
          <p:cNvPr id="6" name="Shap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006FB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@SIH Idea submission- Template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11323015" y="6473952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pic>
        <p:nvPicPr>
          <p:cNvPr id="9" name="Image 1" descr="deckbuild/fig_detec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5532120" cy="3603987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365760" y="4590288"/>
            <a:ext cx="5532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80" kern="0" dirty="0">
                <a:solidFill>
                  <a:srgbClr val="2E9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91% OF DITCHES AT 5% OF THE POINTS · 20× FEWER</a:t>
            </a:r>
            <a:endParaRPr lang="en-US" sz="1150" dirty="0"/>
          </a:p>
        </p:txBody>
      </p:sp>
      <p:pic>
        <p:nvPicPr>
          <p:cNvPr id="11" name="Image 2" descr="deckbuild/fig_speed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60" y="896112"/>
            <a:ext cx="4663440" cy="3263429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6537960" y="4187952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80" kern="0" dirty="0">
                <a:solidFill>
                  <a:srgbClr val="D2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SPEED LIMIT NOBODY PUBLISHED</a:t>
            </a:r>
            <a:endParaRPr lang="en-US" sz="1150" dirty="0"/>
          </a:p>
        </p:txBody>
      </p:sp>
      <p:sp>
        <p:nvSpPr>
          <p:cNvPr id="13" name="Shape 8"/>
          <p:cNvSpPr/>
          <p:nvPr/>
        </p:nvSpPr>
        <p:spPr>
          <a:xfrm>
            <a:off x="6144768" y="4645152"/>
            <a:ext cx="5669280" cy="502920"/>
          </a:xfrm>
          <a:prstGeom prst="roundRect">
            <a:avLst>
              <a:gd name="adj" fmla="val 9091"/>
            </a:avLst>
          </a:prstGeom>
          <a:solidFill>
            <a:srgbClr val="F6F8F5"/>
          </a:solidFill>
          <a:ln w="12700">
            <a:solidFill>
              <a:srgbClr val="D9DED6"/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6309360" y="4800600"/>
            <a:ext cx="192024" cy="192024"/>
          </a:xfrm>
          <a:prstGeom prst="ellipse">
            <a:avLst/>
          </a:prstGeom>
          <a:solidFill>
            <a:srgbClr val="2E9E68"/>
          </a:solidFill>
          <a:ln/>
        </p:spPr>
      </p:sp>
      <p:sp>
        <p:nvSpPr>
          <p:cNvPr id="15" name="Text 10"/>
          <p:cNvSpPr txBox="1"/>
          <p:nvPr/>
        </p:nvSpPr>
        <p:spPr>
          <a:xfrm>
            <a:off x="6601968" y="4645152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Defence UGVs</a:t>
            </a:r>
            <a:endParaRPr lang="en-US" sz="1200" dirty="0"/>
          </a:p>
        </p:txBody>
      </p:sp>
      <p:sp>
        <p:nvSpPr>
          <p:cNvPr id="16" name="Text 11"/>
          <p:cNvSpPr txBox="1"/>
          <p:nvPr/>
        </p:nvSpPr>
        <p:spPr>
          <a:xfrm>
            <a:off x="8549640" y="4645152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5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unmapped ground becomes navigable</a:t>
            </a:r>
            <a:endParaRPr lang="en-US" sz="1050" dirty="0"/>
          </a:p>
        </p:txBody>
      </p:sp>
      <p:sp>
        <p:nvSpPr>
          <p:cNvPr id="17" name="Shape 12"/>
          <p:cNvSpPr/>
          <p:nvPr/>
        </p:nvSpPr>
        <p:spPr>
          <a:xfrm>
            <a:off x="6144768" y="5221224"/>
            <a:ext cx="5669280" cy="502920"/>
          </a:xfrm>
          <a:prstGeom prst="roundRect">
            <a:avLst>
              <a:gd name="adj" fmla="val 9091"/>
            </a:avLst>
          </a:prstGeom>
          <a:solidFill>
            <a:srgbClr val="F6F8F5"/>
          </a:solidFill>
          <a:ln w="12700">
            <a:solidFill>
              <a:srgbClr val="D9DED6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6309360" y="5376672"/>
            <a:ext cx="192024" cy="192024"/>
          </a:xfrm>
          <a:prstGeom prst="ellipse">
            <a:avLst/>
          </a:prstGeom>
          <a:solidFill>
            <a:srgbClr val="2C8FBF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6601968" y="5221224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operators</a:t>
            </a:r>
            <a:endParaRPr lang="en-US" sz="1200" dirty="0"/>
          </a:p>
        </p:txBody>
      </p:sp>
      <p:sp>
        <p:nvSpPr>
          <p:cNvPr id="20" name="Text 15"/>
          <p:cNvSpPr txBox="1"/>
          <p:nvPr/>
        </p:nvSpPr>
        <p:spPr>
          <a:xfrm>
            <a:off x="8549640" y="5221224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5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ditch does not damage a vehicle — it ends it</a:t>
            </a:r>
            <a:endParaRPr lang="en-US" sz="1050" dirty="0"/>
          </a:p>
        </p:txBody>
      </p:sp>
      <p:sp>
        <p:nvSpPr>
          <p:cNvPr id="21" name="Shape 16"/>
          <p:cNvSpPr/>
          <p:nvPr/>
        </p:nvSpPr>
        <p:spPr>
          <a:xfrm>
            <a:off x="6144768" y="5797296"/>
            <a:ext cx="5669280" cy="502920"/>
          </a:xfrm>
          <a:prstGeom prst="roundRect">
            <a:avLst>
              <a:gd name="adj" fmla="val 9091"/>
            </a:avLst>
          </a:prstGeom>
          <a:solidFill>
            <a:srgbClr val="F6F8F5"/>
          </a:solidFill>
          <a:ln w="12700">
            <a:solidFill>
              <a:srgbClr val="D9DED6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6309360" y="5952744"/>
            <a:ext cx="192024" cy="192024"/>
          </a:xfrm>
          <a:prstGeom prst="ellipse">
            <a:avLst/>
          </a:prstGeom>
          <a:solidFill>
            <a:srgbClr val="7A55B5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6601968" y="5797296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designers</a:t>
            </a:r>
            <a:endParaRPr lang="en-US" sz="1200" dirty="0"/>
          </a:p>
        </p:txBody>
      </p:sp>
      <p:sp>
        <p:nvSpPr>
          <p:cNvPr id="24" name="Text 19"/>
          <p:cNvSpPr txBox="1"/>
          <p:nvPr/>
        </p:nvSpPr>
        <p:spPr>
          <a:xfrm>
            <a:off x="8549640" y="5797296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5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quantified speed ceiling, per sensor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28016"/>
            <a:ext cx="1152144" cy="530352"/>
          </a:xfrm>
          <a:prstGeom prst="ellipse">
            <a:avLst/>
          </a:prstGeom>
          <a:solidFill>
            <a:srgbClr val="FFFFFF"/>
          </a:solidFill>
          <a:ln w="15240">
            <a:solidFill>
              <a:srgbClr val="7A6FA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37744" y="128016"/>
            <a:ext cx="115214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4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Raysense</a:t>
            </a:r>
            <a:endParaRPr lang="en-US" sz="1250" dirty="0"/>
          </a:p>
        </p:txBody>
      </p:sp>
      <p:pic>
        <p:nvPicPr>
          <p:cNvPr id="4" name="Image 0" descr="deckbuild/sih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69880" y="91440"/>
            <a:ext cx="1481328" cy="58521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554480" y="118872"/>
            <a:ext cx="8778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141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RESEARCH AND REFERENCES</a:t>
            </a:r>
            <a:endParaRPr lang="en-US" sz="2900" dirty="0"/>
          </a:p>
        </p:txBody>
      </p:sp>
      <p:sp>
        <p:nvSpPr>
          <p:cNvPr id="6" name="Shap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006FB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@SIH Idea submission- Template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11323015" y="6473952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pic>
        <p:nvPicPr>
          <p:cNvPr id="9" name="Image 1" descr="deckbuild/fig_ven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77824"/>
            <a:ext cx="7178040" cy="417085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365760" y="5102352"/>
            <a:ext cx="7178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80" kern="0" dirty="0">
                <a:solidFill>
                  <a:srgbClr val="2E9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DID NOT INVENT ADAPTIVE LIDAR — WE FOUND WHERE IT BREAKS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365760" y="5486400"/>
            <a:ext cx="7178040" cy="731520"/>
          </a:xfrm>
          <a:prstGeom prst="roundRect">
            <a:avLst>
              <a:gd name="adj" fmla="val 6250"/>
            </a:avLst>
          </a:prstGeom>
          <a:solidFill>
            <a:srgbClr val="F0F5F1"/>
          </a:solidFill>
          <a:ln w="12700">
            <a:solidFill>
              <a:srgbClr val="2E9E68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548640" y="5486400"/>
            <a:ext cx="6812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35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Ours: a three-state map · the corrected quadratic floor · a range-normalised gap test</a:t>
            </a:r>
            <a:endParaRPr lang="en-US" sz="1250" dirty="0"/>
          </a:p>
        </p:txBody>
      </p:sp>
      <p:sp>
        <p:nvSpPr>
          <p:cNvPr id="13" name="Text 9"/>
          <p:cNvSpPr txBox="1"/>
          <p:nvPr/>
        </p:nvSpPr>
        <p:spPr>
          <a:xfrm>
            <a:off x="7882128" y="87782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30" kern="0" dirty="0">
                <a:solidFill>
                  <a:srgbClr val="2C8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7882128" y="1316736"/>
            <a:ext cx="137160" cy="137160"/>
          </a:xfrm>
          <a:prstGeom prst="ellipse">
            <a:avLst/>
          </a:prstGeom>
          <a:solidFill>
            <a:srgbClr val="2C8FBF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8138160" y="124358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RELLIS-3D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8138160" y="1499616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ICRA 2021 · off-road, Ouster OS1-64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7882128" y="2103120"/>
            <a:ext cx="137160" cy="137160"/>
          </a:xfrm>
          <a:prstGeom prst="ellipse">
            <a:avLst/>
          </a:prstGeom>
          <a:solidFill>
            <a:srgbClr val="2C8FBF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8138160" y="20299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NEC Labs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8138160" y="2286000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MEMS foveating lidar — Pittaluga et al.</a:t>
            </a:r>
            <a:endParaRPr lang="en-US" sz="1050" dirty="0"/>
          </a:p>
        </p:txBody>
      </p:sp>
      <p:sp>
        <p:nvSpPr>
          <p:cNvPr id="20" name="Shape 16"/>
          <p:cNvSpPr/>
          <p:nvPr/>
        </p:nvSpPr>
        <p:spPr>
          <a:xfrm>
            <a:off x="7882128" y="2889504"/>
            <a:ext cx="137160" cy="137160"/>
          </a:xfrm>
          <a:prstGeom prst="ellipse">
            <a:avLst/>
          </a:prstGeom>
          <a:solidFill>
            <a:srgbClr val="2C8FBF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8138160" y="28163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LiDAR Scanning</a:t>
            </a:r>
            <a:endParaRPr lang="en-US" sz="1200" dirty="0"/>
          </a:p>
        </p:txBody>
      </p:sp>
      <p:sp>
        <p:nvSpPr>
          <p:cNvPr id="22" name="Text 18"/>
          <p:cNvSpPr txBox="1"/>
          <p:nvPr/>
        </p:nvSpPr>
        <p:spPr>
          <a:xfrm>
            <a:off x="8138160" y="3072384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cues, 2025</a:t>
            </a:r>
            <a:endParaRPr lang="en-US" sz="1050" dirty="0"/>
          </a:p>
        </p:txBody>
      </p:sp>
      <p:sp>
        <p:nvSpPr>
          <p:cNvPr id="23" name="Shape 19"/>
          <p:cNvSpPr/>
          <p:nvPr/>
        </p:nvSpPr>
        <p:spPr>
          <a:xfrm>
            <a:off x="7882128" y="3675888"/>
            <a:ext cx="137160" cy="137160"/>
          </a:xfrm>
          <a:prstGeom prst="ellipse">
            <a:avLst/>
          </a:prstGeom>
          <a:solidFill>
            <a:srgbClr val="2C8FBF"/>
          </a:solidFill>
          <a:ln/>
        </p:spPr>
      </p:sp>
      <p:sp>
        <p:nvSpPr>
          <p:cNvPr id="24" name="Text 20"/>
          <p:cNvSpPr txBox="1"/>
          <p:nvPr/>
        </p:nvSpPr>
        <p:spPr>
          <a:xfrm>
            <a:off x="8138160" y="360273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AEye iDAR / 4Sight</a:t>
            </a:r>
            <a:endParaRPr lang="en-US" sz="1200" dirty="0"/>
          </a:p>
        </p:txBody>
      </p:sp>
      <p:sp>
        <p:nvSpPr>
          <p:cNvPr id="25" name="Text 21"/>
          <p:cNvSpPr txBox="1"/>
          <p:nvPr/>
        </p:nvSpPr>
        <p:spPr>
          <a:xfrm>
            <a:off x="8138160" y="3858768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11675053 · 11782136 · 11860313</a:t>
            </a:r>
            <a:endParaRPr lang="en-US" sz="1050" dirty="0"/>
          </a:p>
        </p:txBody>
      </p:sp>
      <p:sp>
        <p:nvSpPr>
          <p:cNvPr id="26" name="Shape 22"/>
          <p:cNvSpPr/>
          <p:nvPr/>
        </p:nvSpPr>
        <p:spPr>
          <a:xfrm>
            <a:off x="7882128" y="4462272"/>
            <a:ext cx="137160" cy="137160"/>
          </a:xfrm>
          <a:prstGeom prst="ellipse">
            <a:avLst/>
          </a:prstGeom>
          <a:solidFill>
            <a:srgbClr val="2C8FBF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8138160" y="43891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Larson &amp; Trivedi</a:t>
            </a:r>
            <a:endParaRPr lang="en-US" sz="1200" dirty="0"/>
          </a:p>
        </p:txBody>
      </p:sp>
      <p:sp>
        <p:nvSpPr>
          <p:cNvPr id="28" name="Text 24"/>
          <p:cNvSpPr txBox="1"/>
          <p:nvPr/>
        </p:nvSpPr>
        <p:spPr>
          <a:xfrm>
            <a:off x="8138160" y="4645152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DTIC ADA561293 — negative obstacles</a:t>
            </a:r>
            <a:endParaRPr lang="en-US" sz="1050" dirty="0"/>
          </a:p>
        </p:txBody>
      </p:sp>
      <p:sp>
        <p:nvSpPr>
          <p:cNvPr id="29" name="Shape 25"/>
          <p:cNvSpPr/>
          <p:nvPr/>
        </p:nvSpPr>
        <p:spPr>
          <a:xfrm>
            <a:off x="7882128" y="5248656"/>
            <a:ext cx="137160" cy="137160"/>
          </a:xfrm>
          <a:prstGeom prst="ellipse">
            <a:avLst/>
          </a:prstGeom>
          <a:solidFill>
            <a:srgbClr val="2C8FBF"/>
          </a:solidFill>
          <a:ln/>
        </p:spPr>
      </p:sp>
      <p:sp>
        <p:nvSpPr>
          <p:cNvPr id="30" name="Text 26"/>
          <p:cNvSpPr txBox="1"/>
          <p:nvPr/>
        </p:nvSpPr>
        <p:spPr>
          <a:xfrm>
            <a:off x="8138160" y="517550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IEEE ROBIO 2024</a:t>
            </a:r>
            <a:endParaRPr lang="en-US" sz="1200" dirty="0"/>
          </a:p>
        </p:txBody>
      </p:sp>
      <p:sp>
        <p:nvSpPr>
          <p:cNvPr id="31" name="Text 27"/>
          <p:cNvSpPr txBox="1"/>
          <p:nvPr/>
        </p:nvSpPr>
        <p:spPr>
          <a:xfrm>
            <a:off x="8138160" y="5431536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sparse 3D lidar, off-road ditches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2026-09-11T18:15:27Z</dcterms:created>
  <dcterms:modified xsi:type="dcterms:W3CDTF">2026-09-11T18:15:27Z</dcterms:modified>
</cp:coreProperties>
</file>